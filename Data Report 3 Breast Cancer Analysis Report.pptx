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81" r:id="rId3"/>
    <p:sldId id="282" r:id="rId4"/>
    <p:sldId id="269" r:id="rId5"/>
    <p:sldId id="263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8" r:id="rId14"/>
    <p:sldId id="2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2425"/>
    <a:srgbClr val="9D2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>
      <p:cViewPr>
        <p:scale>
          <a:sx n="64" d="100"/>
          <a:sy n="64" d="100"/>
        </p:scale>
        <p:origin x="978" y="27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5/24/2026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5/24/2026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098175" cy="317738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181600"/>
            <a:ext cx="4098175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pic>
        <p:nvPicPr>
          <p:cNvPr id="7" name="Picture 6" descr="EKG lin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688" y="-1"/>
            <a:ext cx="700013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5/24/2026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265112" y="228600"/>
            <a:ext cx="116586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772400" cy="317738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5181600"/>
            <a:ext cx="7772400" cy="685800"/>
          </a:xfrm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5/24/2026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5/24/2026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5/24/2026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5/24/2026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270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5943600" cy="5943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2699" y="5029200"/>
            <a:ext cx="3932237" cy="13716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" y="0"/>
            <a:ext cx="7008810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5240" y="5029200"/>
            <a:ext cx="3932237" cy="137464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5/24/2026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9982200" y="0"/>
            <a:ext cx="22098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457201"/>
            <a:ext cx="2057401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9067800" cy="5943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5/24/2026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ar" descr="Red bar"/>
          <p:cNvSpPr/>
          <p:nvPr/>
        </p:nvSpPr>
        <p:spPr>
          <a:xfrm>
            <a:off x="1" y="1"/>
            <a:ext cx="12188824" cy="1524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81760"/>
            <a:ext cx="78486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7800" y="6465885"/>
            <a:ext cx="10668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5/24/2026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481760"/>
            <a:ext cx="8382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68680" indent="-182563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257800" y="533400"/>
            <a:ext cx="6858000" cy="121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Breast Cancer Data Analysis Report</a:t>
            </a:r>
            <a:endParaRPr lang="en-US" sz="4000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5257800" y="5410200"/>
            <a:ext cx="6858000" cy="121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Prepared </a:t>
            </a:r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Using Python &amp; </a:t>
            </a:r>
            <a:r>
              <a:rPr lang="en-US" sz="2000" b="1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Jupyter</a:t>
            </a:r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US" sz="20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Notebook</a:t>
            </a:r>
          </a:p>
          <a:p>
            <a:pPr algn="ctr"/>
            <a:endParaRPr lang="en-US" sz="2000" b="1" dirty="0" smtClean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by </a:t>
            </a:r>
            <a:r>
              <a:rPr lang="en-US" sz="2000" b="1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Ademola</a:t>
            </a:r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Abraham</a:t>
            </a:r>
          </a:p>
          <a:p>
            <a:pPr algn="ctr"/>
            <a:endParaRPr lang="en-US" sz="20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85" r="25001"/>
          <a:stretch/>
        </p:blipFill>
        <p:spPr>
          <a:xfrm>
            <a:off x="0" y="0"/>
            <a:ext cx="5181600" cy="6858000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0" y="917912"/>
            <a:ext cx="11582400" cy="5632311"/>
          </a:xfrm>
          <a:prstGeom prst="rect">
            <a:avLst/>
          </a:prstGeom>
          <a:noFill/>
        </p:spPr>
        <p:txBody>
          <a:bodyPr wrap="square" numCol="1" spcCol="457200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The University of </a:t>
            </a:r>
            <a:r>
              <a:rPr lang="en-US" dirty="0" err="1">
                <a:latin typeface="Franklin Gothic Book" panose="020B0503020102020204" pitchFamily="34" charset="0"/>
              </a:rPr>
              <a:t>Calabar</a:t>
            </a:r>
            <a:r>
              <a:rPr lang="en-US" dirty="0">
                <a:latin typeface="Franklin Gothic Book" panose="020B0503020102020204" pitchFamily="34" charset="0"/>
              </a:rPr>
              <a:t> Teaching Hospital provided two years of breast cancer patient data to better understand diagnosis patterns, severity </a:t>
            </a:r>
            <a:r>
              <a:rPr lang="en-US" dirty="0" smtClean="0">
                <a:latin typeface="Franklin Gothic Book" panose="020B0503020102020204" pitchFamily="34" charset="0"/>
              </a:rPr>
              <a:t>indicators </a:t>
            </a:r>
            <a:r>
              <a:rPr lang="en-US" dirty="0">
                <a:latin typeface="Franklin Gothic Book" panose="020B0503020102020204" pitchFamily="34" charset="0"/>
              </a:rPr>
              <a:t>and factors associated with malignant breast cancer cases.</a:t>
            </a:r>
          </a:p>
          <a:p>
            <a:r>
              <a:rPr lang="en-US" dirty="0">
                <a:latin typeface="Franklin Gothic Book" panose="020B0503020102020204" pitchFamily="34" charset="0"/>
              </a:rPr>
              <a:t> </a:t>
            </a:r>
          </a:p>
          <a:p>
            <a:r>
              <a:rPr lang="en-US" dirty="0">
                <a:latin typeface="Franklin Gothic Book" panose="020B0503020102020204" pitchFamily="34" charset="0"/>
              </a:rPr>
              <a:t>Despite having patient medical records, several important clinical questions remained unanswered:</a:t>
            </a:r>
          </a:p>
          <a:p>
            <a:r>
              <a:rPr lang="en-US" dirty="0">
                <a:latin typeface="Franklin Gothic Book" panose="020B0503020102020204" pitchFamily="34" charset="0"/>
              </a:rPr>
              <a:t> 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dirty="0" smtClean="0">
                <a:latin typeface="Franklin Gothic Book" panose="020B0503020102020204" pitchFamily="34" charset="0"/>
              </a:rPr>
              <a:t>Which </a:t>
            </a:r>
            <a:r>
              <a:rPr lang="en-US" dirty="0">
                <a:latin typeface="Franklin Gothic Book" panose="020B0503020102020204" pitchFamily="34" charset="0"/>
              </a:rPr>
              <a:t>age groups are most affected by breast cancer</a:t>
            </a:r>
            <a:r>
              <a:rPr lang="en-US" dirty="0" smtClean="0">
                <a:latin typeface="Franklin Gothic Book" panose="020B0503020102020204" pitchFamily="34" charset="0"/>
              </a:rPr>
              <a:t>?</a:t>
            </a:r>
            <a:endParaRPr lang="en-US" dirty="0">
              <a:latin typeface="Franklin Gothic Book" panose="020B05030201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dirty="0" smtClean="0">
                <a:latin typeface="Franklin Gothic Book" panose="020B0503020102020204" pitchFamily="34" charset="0"/>
              </a:rPr>
              <a:t>Are </a:t>
            </a:r>
            <a:r>
              <a:rPr lang="en-US" dirty="0">
                <a:latin typeface="Franklin Gothic Book" panose="020B0503020102020204" pitchFamily="34" charset="0"/>
              </a:rPr>
              <a:t>larger tumor sizes more associated with malignant diagnosis</a:t>
            </a:r>
            <a:r>
              <a:rPr lang="en-US" dirty="0" smtClean="0">
                <a:latin typeface="Franklin Gothic Book" panose="020B0503020102020204" pitchFamily="34" charset="0"/>
              </a:rPr>
              <a:t>?</a:t>
            </a:r>
            <a:endParaRPr lang="en-US" dirty="0">
              <a:latin typeface="Franklin Gothic Book" panose="020B05030201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dirty="0" smtClean="0">
                <a:latin typeface="Franklin Gothic Book" panose="020B0503020102020204" pitchFamily="34" charset="0"/>
              </a:rPr>
              <a:t>Does </a:t>
            </a:r>
            <a:r>
              <a:rPr lang="en-US" dirty="0">
                <a:latin typeface="Franklin Gothic Book" panose="020B0503020102020204" pitchFamily="34" charset="0"/>
              </a:rPr>
              <a:t>menopause increase the risk of malignant breast cancer</a:t>
            </a:r>
            <a:r>
              <a:rPr lang="en-US" dirty="0" smtClean="0">
                <a:latin typeface="Franklin Gothic Book" panose="020B0503020102020204" pitchFamily="34" charset="0"/>
              </a:rPr>
              <a:t>?</a:t>
            </a:r>
            <a:endParaRPr lang="en-US" dirty="0">
              <a:latin typeface="Franklin Gothic Book" panose="020B05030201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dirty="0" smtClean="0">
                <a:latin typeface="Franklin Gothic Book" panose="020B0503020102020204" pitchFamily="34" charset="0"/>
              </a:rPr>
              <a:t>How </a:t>
            </a:r>
            <a:r>
              <a:rPr lang="en-US" dirty="0">
                <a:latin typeface="Franklin Gothic Book" panose="020B0503020102020204" pitchFamily="34" charset="0"/>
              </a:rPr>
              <a:t>strongly is metastasis connected to malignancy</a:t>
            </a:r>
            <a:r>
              <a:rPr lang="en-US" dirty="0" smtClean="0">
                <a:latin typeface="Franklin Gothic Book" panose="020B0503020102020204" pitchFamily="34" charset="0"/>
              </a:rPr>
              <a:t>?</a:t>
            </a:r>
            <a:endParaRPr lang="en-US" dirty="0">
              <a:latin typeface="Franklin Gothic Book" panose="020B05030201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dirty="0" smtClean="0">
                <a:latin typeface="Franklin Gothic Book" panose="020B0503020102020204" pitchFamily="34" charset="0"/>
              </a:rPr>
              <a:t>Can </a:t>
            </a:r>
            <a:r>
              <a:rPr lang="en-US" dirty="0">
                <a:latin typeface="Franklin Gothic Book" panose="020B0503020102020204" pitchFamily="34" charset="0"/>
              </a:rPr>
              <a:t>involved lymph nodes help predict cancer severity</a:t>
            </a:r>
            <a:r>
              <a:rPr lang="en-US" dirty="0" smtClean="0">
                <a:latin typeface="Franklin Gothic Book" panose="020B0503020102020204" pitchFamily="34" charset="0"/>
              </a:rPr>
              <a:t>?</a:t>
            </a:r>
            <a:endParaRPr lang="en-US" dirty="0">
              <a:latin typeface="Franklin Gothic Book" panose="020B05030201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dirty="0" smtClean="0">
                <a:latin typeface="Franklin Gothic Book" panose="020B0503020102020204" pitchFamily="34" charset="0"/>
              </a:rPr>
              <a:t>Which </a:t>
            </a:r>
            <a:r>
              <a:rPr lang="en-US" dirty="0">
                <a:latin typeface="Franklin Gothic Book" panose="020B0503020102020204" pitchFamily="34" charset="0"/>
              </a:rPr>
              <a:t>medical factors appear most associated with malignant diagnosis</a:t>
            </a:r>
            <a:r>
              <a:rPr lang="en-US" dirty="0" smtClean="0">
                <a:latin typeface="Franklin Gothic Book" panose="020B0503020102020204" pitchFamily="34" charset="0"/>
              </a:rPr>
              <a:t>?</a:t>
            </a:r>
            <a:endParaRPr lang="en-US" dirty="0">
              <a:latin typeface="Franklin Gothic Book" panose="020B05030201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dirty="0" smtClean="0">
                <a:latin typeface="Franklin Gothic Book" panose="020B0503020102020204" pitchFamily="34" charset="0"/>
              </a:rPr>
              <a:t>10 </a:t>
            </a:r>
            <a:r>
              <a:rPr lang="en-US" dirty="0">
                <a:latin typeface="Franklin Gothic Book" panose="020B0503020102020204" pitchFamily="34" charset="0"/>
              </a:rPr>
              <a:t>key medical questions provided by healthcare professionals were analyzed and answered through exploratory data analysis (EDA).</a:t>
            </a:r>
          </a:p>
          <a:p>
            <a:r>
              <a:rPr lang="en-US" dirty="0">
                <a:latin typeface="Franklin Gothic Book" panose="020B0503020102020204" pitchFamily="34" charset="0"/>
              </a:rPr>
              <a:t> </a:t>
            </a:r>
          </a:p>
          <a:p>
            <a:r>
              <a:rPr lang="en-US" dirty="0">
                <a:latin typeface="Franklin Gothic Book" panose="020B0503020102020204" pitchFamily="34" charset="0"/>
              </a:rPr>
              <a:t>The goal of this analysis is to uncover medical insights that support early detection, patient risk </a:t>
            </a:r>
            <a:r>
              <a:rPr lang="en-US" dirty="0" smtClean="0">
                <a:latin typeface="Franklin Gothic Book" panose="020B0503020102020204" pitchFamily="34" charset="0"/>
              </a:rPr>
              <a:t>assessment </a:t>
            </a:r>
            <a:r>
              <a:rPr lang="en-US" dirty="0">
                <a:latin typeface="Franklin Gothic Book" panose="020B0503020102020204" pitchFamily="34" charset="0"/>
              </a:rPr>
              <a:t>and data-driven healthcare decision-making.</a:t>
            </a:r>
            <a:endParaRPr lang="en-US" sz="2000" dirty="0">
              <a:latin typeface="Franklin Gothic Book" panose="020B05030201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932425"/>
          </a:solidFill>
          <a:ln>
            <a:solidFill>
              <a:srgbClr val="932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"/>
            <a:ext cx="12192000" cy="838199"/>
          </a:xfrm>
        </p:spPr>
        <p:txBody>
          <a:bodyPr/>
          <a:lstStyle/>
          <a:p>
            <a:pPr algn="ctr"/>
            <a:r>
              <a:rPr lang="en-US" b="1" dirty="0" smtClean="0">
                <a:latin typeface="Franklin Gothic Book" panose="020B0503020102020204" pitchFamily="34" charset="0"/>
              </a:rPr>
              <a:t>Background </a:t>
            </a:r>
            <a:r>
              <a:rPr lang="en-US" b="1" dirty="0">
                <a:latin typeface="Franklin Gothic Book" panose="020B0503020102020204" pitchFamily="34" charset="0"/>
              </a:rPr>
              <a:t>&amp; </a:t>
            </a:r>
            <a:r>
              <a:rPr lang="en-US" b="1" dirty="0" smtClean="0">
                <a:latin typeface="Franklin Gothic Book" panose="020B0503020102020204" pitchFamily="34" charset="0"/>
              </a:rPr>
              <a:t>Purpose Of Analysis</a:t>
            </a:r>
            <a:endParaRPr lang="en-US" b="1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03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0" y="1086683"/>
            <a:ext cx="11582400" cy="3693319"/>
          </a:xfrm>
          <a:prstGeom prst="rect">
            <a:avLst/>
          </a:prstGeom>
          <a:noFill/>
        </p:spPr>
        <p:txBody>
          <a:bodyPr wrap="square" numCol="1" spcCol="457200" rtlCol="0">
            <a:spAutoFit/>
          </a:bodyPr>
          <a:lstStyle/>
          <a:p>
            <a:r>
              <a:rPr lang="en-US" dirty="0" smtClean="0">
                <a:latin typeface="Franklin Gothic Book" panose="020B0503020102020204" pitchFamily="34" charset="0"/>
              </a:rPr>
              <a:t>The </a:t>
            </a:r>
            <a:r>
              <a:rPr lang="en-US" dirty="0">
                <a:latin typeface="Franklin Gothic Book" panose="020B0503020102020204" pitchFamily="34" charset="0"/>
              </a:rPr>
              <a:t>dataset contains breast cancer patient records collected from the University of </a:t>
            </a:r>
            <a:r>
              <a:rPr lang="en-US" dirty="0" err="1">
                <a:latin typeface="Franklin Gothic Book" panose="020B0503020102020204" pitchFamily="34" charset="0"/>
              </a:rPr>
              <a:t>Calabar</a:t>
            </a:r>
            <a:r>
              <a:rPr lang="en-US" dirty="0">
                <a:latin typeface="Franklin Gothic Book" panose="020B0503020102020204" pitchFamily="34" charset="0"/>
              </a:rPr>
              <a:t> Teaching Hospital between 2019 and 2020. The data includes patient details, tumor </a:t>
            </a:r>
            <a:r>
              <a:rPr lang="en-US" dirty="0" smtClean="0">
                <a:latin typeface="Franklin Gothic Book" panose="020B0503020102020204" pitchFamily="34" charset="0"/>
              </a:rPr>
              <a:t>characteristics </a:t>
            </a:r>
            <a:r>
              <a:rPr lang="en-US" dirty="0">
                <a:latin typeface="Franklin Gothic Book" panose="020B0503020102020204" pitchFamily="34" charset="0"/>
              </a:rPr>
              <a:t>and diagnosis-related medical variables used for breast cancer analysis.</a:t>
            </a:r>
          </a:p>
          <a:p>
            <a:r>
              <a:rPr lang="en-US" dirty="0">
                <a:latin typeface="Franklin Gothic Book" panose="020B0503020102020204" pitchFamily="34" charset="0"/>
              </a:rPr>
              <a:t> </a:t>
            </a:r>
            <a:endParaRPr lang="en-US" dirty="0" smtClean="0">
              <a:latin typeface="Franklin Gothic Book" panose="020B0503020102020204" pitchFamily="34" charset="0"/>
            </a:endParaRPr>
          </a:p>
          <a:p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b="1" dirty="0">
                <a:latin typeface="Franklin Gothic Book" panose="020B0503020102020204" pitchFamily="34" charset="0"/>
              </a:rPr>
              <a:t>Dataset Summary</a:t>
            </a:r>
          </a:p>
          <a:p>
            <a:r>
              <a:rPr lang="en-US" dirty="0">
                <a:latin typeface="Franklin Gothic Book" panose="020B0503020102020204" pitchFamily="34" charset="0"/>
              </a:rPr>
              <a:t> 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Franklin Gothic Book" panose="020B0503020102020204" pitchFamily="34" charset="0"/>
              </a:rPr>
              <a:t>Dataset Type: Breast Cancer Medical </a:t>
            </a:r>
            <a:r>
              <a:rPr lang="en-US" dirty="0" smtClean="0">
                <a:latin typeface="Franklin Gothic Book" panose="020B0503020102020204" pitchFamily="34" charset="0"/>
              </a:rPr>
              <a:t>Dataset</a:t>
            </a:r>
            <a:endParaRPr lang="en-US" dirty="0">
              <a:latin typeface="Franklin Gothic Book" panose="020B05030201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Franklin Gothic Book" panose="020B0503020102020204" pitchFamily="34" charset="0"/>
              </a:rPr>
              <a:t>Source: University of </a:t>
            </a:r>
            <a:r>
              <a:rPr lang="en-US" dirty="0" err="1">
                <a:latin typeface="Franklin Gothic Book" panose="020B0503020102020204" pitchFamily="34" charset="0"/>
              </a:rPr>
              <a:t>Calabar</a:t>
            </a:r>
            <a:r>
              <a:rPr lang="en-US" dirty="0">
                <a:latin typeface="Franklin Gothic Book" panose="020B0503020102020204" pitchFamily="34" charset="0"/>
              </a:rPr>
              <a:t> Teaching </a:t>
            </a:r>
            <a:r>
              <a:rPr lang="en-US" dirty="0" smtClean="0">
                <a:latin typeface="Franklin Gothic Book" panose="020B0503020102020204" pitchFamily="34" charset="0"/>
              </a:rPr>
              <a:t>Hospital</a:t>
            </a:r>
            <a:endParaRPr lang="en-US" dirty="0">
              <a:latin typeface="Franklin Gothic Book" panose="020B05030201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Franklin Gothic Book" panose="020B0503020102020204" pitchFamily="34" charset="0"/>
              </a:rPr>
              <a:t>Study Period: 2019 – </a:t>
            </a:r>
            <a:r>
              <a:rPr lang="en-US" dirty="0" smtClean="0">
                <a:latin typeface="Franklin Gothic Book" panose="020B0503020102020204" pitchFamily="34" charset="0"/>
              </a:rPr>
              <a:t>2020</a:t>
            </a:r>
            <a:endParaRPr lang="en-US" dirty="0">
              <a:latin typeface="Franklin Gothic Book" panose="020B05030201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Franklin Gothic Book" panose="020B0503020102020204" pitchFamily="34" charset="0"/>
              </a:rPr>
              <a:t>Total Records: 215 Patient </a:t>
            </a:r>
            <a:r>
              <a:rPr lang="en-US" dirty="0" smtClean="0">
                <a:latin typeface="Franklin Gothic Book" panose="020B0503020102020204" pitchFamily="34" charset="0"/>
              </a:rPr>
              <a:t>Cases</a:t>
            </a:r>
            <a:r>
              <a:rPr lang="en-US" dirty="0">
                <a:latin typeface="Franklin Gothic Book" panose="020B0503020102020204" pitchFamily="34" charset="0"/>
              </a:rPr>
              <a:t>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932425"/>
          </a:solidFill>
          <a:ln>
            <a:solidFill>
              <a:srgbClr val="932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"/>
            <a:ext cx="12192000" cy="838199"/>
          </a:xfrm>
        </p:spPr>
        <p:txBody>
          <a:bodyPr/>
          <a:lstStyle/>
          <a:p>
            <a:pPr algn="ctr"/>
            <a:r>
              <a:rPr lang="en-US" b="1" dirty="0" smtClean="0">
                <a:latin typeface="Franklin Gothic Book" panose="020B0503020102020204" pitchFamily="34" charset="0"/>
              </a:rPr>
              <a:t>Dataset Overview</a:t>
            </a:r>
            <a:endParaRPr lang="en-US" b="1" dirty="0">
              <a:latin typeface="Franklin Gothic Book" panose="020B0503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24600" y="2438400"/>
            <a:ext cx="5638800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Franklin Gothic Book" panose="020B0503020102020204" pitchFamily="34" charset="0"/>
              </a:rPr>
              <a:t>Key Medical Variables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Franklin Gothic Book" panose="020B05030201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Franklin Gothic Book" panose="020B0503020102020204" pitchFamily="34" charset="0"/>
              </a:rPr>
              <a:t>Menopause </a:t>
            </a:r>
            <a:r>
              <a:rPr lang="en-US" dirty="0">
                <a:latin typeface="Franklin Gothic Book" panose="020B0503020102020204" pitchFamily="34" charset="0"/>
              </a:rPr>
              <a:t>Status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Franklin Gothic Book" panose="020B0503020102020204" pitchFamily="34" charset="0"/>
              </a:rPr>
              <a:t>Medical History 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Franklin Gothic Book" panose="020B0503020102020204" pitchFamily="34" charset="0"/>
              </a:rPr>
              <a:t>Tumor Size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Franklin Gothic Book" panose="020B0503020102020204" pitchFamily="34" charset="0"/>
              </a:rPr>
              <a:t>Metastasis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Franklin Gothic Book" panose="020B0503020102020204" pitchFamily="34" charset="0"/>
              </a:rPr>
              <a:t>Involved Lymph Nodes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Franklin Gothic Book" panose="020B0503020102020204" pitchFamily="34" charset="0"/>
              </a:rPr>
              <a:t>Breast Side Affected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Franklin Gothic Book" panose="020B0503020102020204" pitchFamily="34" charset="0"/>
              </a:rPr>
              <a:t>Breast Quadrant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Franklin Gothic Book" panose="020B0503020102020204" pitchFamily="34" charset="0"/>
              </a:rPr>
              <a:t>Diagnosis Outcome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175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28600"/>
            <a:ext cx="12192000" cy="1116875"/>
          </a:xfrm>
          <a:prstGeom prst="rect">
            <a:avLst/>
          </a:prstGeom>
          <a:solidFill>
            <a:srgbClr val="932425"/>
          </a:solidFill>
          <a:ln>
            <a:solidFill>
              <a:srgbClr val="932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00013"/>
            <a:ext cx="11506200" cy="1325562"/>
          </a:xfrm>
        </p:spPr>
        <p:txBody>
          <a:bodyPr/>
          <a:lstStyle/>
          <a:p>
            <a:pPr algn="ctr"/>
            <a:r>
              <a:rPr lang="en-US" b="1" dirty="0" smtClean="0">
                <a:latin typeface="Franklin Gothic Book" panose="020B0503020102020204" pitchFamily="34" charset="0"/>
              </a:rPr>
              <a:t>Distribution </a:t>
            </a:r>
            <a:r>
              <a:rPr lang="en-US" b="1" dirty="0">
                <a:latin typeface="Franklin Gothic Book" panose="020B0503020102020204" pitchFamily="34" charset="0"/>
              </a:rPr>
              <a:t>of </a:t>
            </a:r>
            <a:r>
              <a:rPr lang="en-US" b="1" dirty="0" smtClean="0">
                <a:latin typeface="Franklin Gothic Book" panose="020B0503020102020204" pitchFamily="34" charset="0"/>
              </a:rPr>
              <a:t>Benign and Malignant </a:t>
            </a:r>
            <a:r>
              <a:rPr lang="en-US" b="1" dirty="0">
                <a:latin typeface="Franklin Gothic Book" panose="020B0503020102020204" pitchFamily="34" charset="0"/>
              </a:rPr>
              <a:t>Cancer Diagnoses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0" y="2057400"/>
            <a:ext cx="5715000" cy="4419600"/>
          </a:xfrm>
          <a:prstGeom prst="rect">
            <a:avLst/>
          </a:prstGeom>
          <a:solidFill>
            <a:srgbClr val="9D262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981200"/>
            <a:ext cx="5486400" cy="47244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68680" indent="-182563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5156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173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8308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  <a:latin typeface="Franklin Gothic Book" panose="020B0503020102020204" pitchFamily="34" charset="0"/>
              </a:rPr>
              <a:t>Benign cases accounted for the majority of </a:t>
            </a:r>
            <a:r>
              <a:rPr lang="en-US" sz="2200" dirty="0" smtClean="0">
                <a:solidFill>
                  <a:schemeClr val="tx1"/>
                </a:solidFill>
                <a:latin typeface="Franklin Gothic Book" panose="020B0503020102020204" pitchFamily="34" charset="0"/>
              </a:rPr>
              <a:t>diagnoses</a:t>
            </a:r>
            <a:r>
              <a:rPr lang="en-US" dirty="0" smtClean="0">
                <a:solidFill>
                  <a:schemeClr val="tx1"/>
                </a:solidFill>
                <a:latin typeface="Franklin Gothic Book" panose="020B0503020102020204" pitchFamily="34" charset="0"/>
              </a:rPr>
              <a:t> in the dataset with 120 recorded cases.</a:t>
            </a:r>
          </a:p>
          <a:p>
            <a:r>
              <a:rPr lang="en-US" dirty="0" smtClean="0">
                <a:solidFill>
                  <a:schemeClr val="tx1"/>
                </a:solidFill>
                <a:latin typeface="Franklin Gothic Book" panose="020B0503020102020204" pitchFamily="34" charset="0"/>
              </a:rPr>
              <a:t>Malignant cases were also significantly high, with 93 recorded cases, indicating a considerable presence of severe breast cancer conditions.</a:t>
            </a:r>
          </a:p>
          <a:p>
            <a:r>
              <a:rPr lang="en-US" dirty="0" smtClean="0">
                <a:solidFill>
                  <a:schemeClr val="tx1"/>
                </a:solidFill>
                <a:latin typeface="Franklin Gothic Book" panose="020B0503020102020204" pitchFamily="34" charset="0"/>
              </a:rPr>
              <a:t>The diagnosis distribution shows that while non-cancerous cases were slightly more common, malignant breast cancer remains a major health concern within the patient population.</a:t>
            </a:r>
          </a:p>
          <a:p>
            <a:r>
              <a:rPr lang="en-US" dirty="0" smtClean="0">
                <a:solidFill>
                  <a:schemeClr val="tx1"/>
                </a:solidFill>
                <a:latin typeface="Franklin Gothic Book" panose="020B0503020102020204" pitchFamily="34" charset="0"/>
              </a:rPr>
              <a:t>The relatively close difference between benign and malignant cases highlights the importance of continuous screening and early detection efforts.</a:t>
            </a:r>
            <a:endParaRPr lang="en-US" dirty="0">
              <a:solidFill>
                <a:schemeClr val="tx1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7" name="Picture 6" descr="C:\Users\DELL\AppData\Local\Microsoft\Windows\INetCache\Content.MSO\4B1E6C93.tmp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1" y="2133600"/>
            <a:ext cx="5562600" cy="42564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4891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228600"/>
            <a:ext cx="12192000" cy="1116875"/>
          </a:xfrm>
          <a:prstGeom prst="rect">
            <a:avLst/>
          </a:prstGeom>
          <a:solidFill>
            <a:srgbClr val="932425"/>
          </a:solidFill>
          <a:ln>
            <a:solidFill>
              <a:srgbClr val="932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00013"/>
            <a:ext cx="11506200" cy="1325562"/>
          </a:xfrm>
        </p:spPr>
        <p:txBody>
          <a:bodyPr/>
          <a:lstStyle/>
          <a:p>
            <a:pPr algn="ctr"/>
            <a:r>
              <a:rPr lang="en-US" b="1" dirty="0" smtClean="0">
                <a:latin typeface="Franklin Gothic Book" panose="020B0503020102020204" pitchFamily="34" charset="0"/>
              </a:rPr>
              <a:t>Yearly Comparison of </a:t>
            </a:r>
            <a:r>
              <a:rPr lang="en-US" b="1" dirty="0">
                <a:latin typeface="Franklin Gothic Book" panose="020B0503020102020204" pitchFamily="34" charset="0"/>
              </a:rPr>
              <a:t>Breast </a:t>
            </a:r>
            <a:r>
              <a:rPr lang="en-US" b="1" dirty="0" smtClean="0">
                <a:latin typeface="Franklin Gothic Book" panose="020B0503020102020204" pitchFamily="34" charset="0"/>
              </a:rPr>
              <a:t>Cancer Diagnosis Cases (2019 -- 2020)</a:t>
            </a:r>
            <a:endParaRPr lang="en-US" b="1" dirty="0">
              <a:latin typeface="Franklin Gothic Book" panose="020B05030201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0" y="2133600"/>
            <a:ext cx="5705856" cy="4389120"/>
          </a:xfrm>
          <a:prstGeom prst="rect">
            <a:avLst/>
          </a:prstGeom>
          <a:solidFill>
            <a:srgbClr val="9D262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981200"/>
            <a:ext cx="5486400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68680" indent="-182563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5156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173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8308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Total breast cancer cases increased slightly from 2019 to 2020.</a:t>
            </a:r>
          </a:p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Benign cases increased from 56 cases in 2019 to 64 cases in 2020.</a:t>
            </a:r>
          </a:p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Malignant cases remained relatively stable across both years, with 46 cases in 2019 and 47 cases in 2020.</a:t>
            </a:r>
          </a:p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The data shows no major fluctuation in malignant diagnosis between the two years.</a:t>
            </a:r>
          </a:p>
        </p:txBody>
      </p:sp>
      <p:pic>
        <p:nvPicPr>
          <p:cNvPr id="6" name="Picture 5" descr="C:\Users\DELL\AppData\Local\Microsoft\Windows\INetCache\Content.MSO\82F29D57.tmp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209800"/>
            <a:ext cx="5562600" cy="42456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710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228600"/>
            <a:ext cx="12192000" cy="1116875"/>
          </a:xfrm>
          <a:prstGeom prst="rect">
            <a:avLst/>
          </a:prstGeom>
          <a:solidFill>
            <a:srgbClr val="932425"/>
          </a:solidFill>
          <a:ln>
            <a:solidFill>
              <a:srgbClr val="932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00013"/>
            <a:ext cx="11506200" cy="1325562"/>
          </a:xfrm>
        </p:spPr>
        <p:txBody>
          <a:bodyPr/>
          <a:lstStyle/>
          <a:p>
            <a:pPr algn="ctr"/>
            <a:r>
              <a:rPr lang="en-US" b="1" dirty="0" smtClean="0">
                <a:latin typeface="Franklin Gothic Book" panose="020B0503020102020204" pitchFamily="34" charset="0"/>
              </a:rPr>
              <a:t>Age </a:t>
            </a:r>
            <a:r>
              <a:rPr lang="en-US" b="1" dirty="0">
                <a:latin typeface="Franklin Gothic Book" panose="020B0503020102020204" pitchFamily="34" charset="0"/>
              </a:rPr>
              <a:t>Groups </a:t>
            </a:r>
            <a:r>
              <a:rPr lang="en-US" b="1" dirty="0" smtClean="0">
                <a:latin typeface="Franklin Gothic Book" panose="020B0503020102020204" pitchFamily="34" charset="0"/>
              </a:rPr>
              <a:t>Distribution of </a:t>
            </a:r>
            <a:r>
              <a:rPr lang="en-US" b="1" dirty="0">
                <a:latin typeface="Franklin Gothic Book" panose="020B0503020102020204" pitchFamily="34" charset="0"/>
              </a:rPr>
              <a:t>Breast </a:t>
            </a:r>
            <a:r>
              <a:rPr lang="en-US" b="1" dirty="0" smtClean="0">
                <a:latin typeface="Franklin Gothic Book" panose="020B0503020102020204" pitchFamily="34" charset="0"/>
              </a:rPr>
              <a:t>Cancer Cases</a:t>
            </a:r>
            <a:endParaRPr lang="en-US" b="1" dirty="0">
              <a:latin typeface="Franklin Gothic Book" panose="020B05030201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0" y="2133600"/>
            <a:ext cx="5696712" cy="4114800"/>
          </a:xfrm>
          <a:prstGeom prst="rect">
            <a:avLst/>
          </a:prstGeom>
          <a:solidFill>
            <a:srgbClr val="9D262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981200"/>
            <a:ext cx="5486400" cy="47244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68680" indent="-182563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5156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173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8308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>
                <a:solidFill>
                  <a:schemeClr val="tx1"/>
                </a:solidFill>
                <a:latin typeface="Franklin Gothic Book" panose="020B0503020102020204" pitchFamily="34" charset="0"/>
              </a:rPr>
              <a:t>Patients between ages 30 to 50 recorded the highest number of breast cancer cases.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Franklin Gothic Book" panose="020B0503020102020204" pitchFamily="34" charset="0"/>
              </a:rPr>
              <a:t>Malignant cases were most common in the 40 to 50 age group with 37 recorded cases.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Franklin Gothic Book" panose="020B0503020102020204" pitchFamily="34" charset="0"/>
              </a:rPr>
              <a:t>Benign cases were highest among patients aged 30 to 40 with 34 cases.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Franklin Gothic Book" panose="020B0503020102020204" pitchFamily="34" charset="0"/>
              </a:rPr>
              <a:t>Malignant diagnoses increased noticeably with age, particularly from age 40 and above.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Franklin Gothic Book" panose="020B0503020102020204" pitchFamily="34" charset="0"/>
              </a:rPr>
              <a:t>Very few malignant cases were recorded among patients below 30 years</a:t>
            </a:r>
            <a:r>
              <a:rPr lang="en-US" dirty="0" smtClean="0">
                <a:solidFill>
                  <a:schemeClr val="tx1"/>
                </a:solidFill>
                <a:latin typeface="Franklin Gothic Book" panose="020B0503020102020204" pitchFamily="34" charset="0"/>
              </a:rPr>
              <a:t>.</a:t>
            </a:r>
            <a:endParaRPr lang="en-US" dirty="0">
              <a:solidFill>
                <a:schemeClr val="tx1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9" name="Picture 8" descr="C:\Users\DELL\AppData\Local\Microsoft\Windows\INetCache\Content.MSO\AF014175.tmp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209800"/>
            <a:ext cx="5562600" cy="3962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0337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228600"/>
            <a:ext cx="12192000" cy="1116875"/>
          </a:xfrm>
          <a:prstGeom prst="rect">
            <a:avLst/>
          </a:prstGeom>
          <a:solidFill>
            <a:srgbClr val="932425"/>
          </a:solidFill>
          <a:ln>
            <a:solidFill>
              <a:srgbClr val="932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00013"/>
            <a:ext cx="11506200" cy="1325562"/>
          </a:xfrm>
        </p:spPr>
        <p:txBody>
          <a:bodyPr/>
          <a:lstStyle/>
          <a:p>
            <a:pPr algn="ctr"/>
            <a:r>
              <a:rPr lang="en-US" b="1" dirty="0" smtClean="0">
                <a:latin typeface="Franklin Gothic Book" panose="020B0503020102020204" pitchFamily="34" charset="0"/>
              </a:rPr>
              <a:t>Relationship </a:t>
            </a:r>
            <a:r>
              <a:rPr lang="en-US" b="1" dirty="0">
                <a:latin typeface="Franklin Gothic Book" panose="020B0503020102020204" pitchFamily="34" charset="0"/>
              </a:rPr>
              <a:t>Between Tumor Size and Diagnosis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0" y="2286000"/>
            <a:ext cx="5715000" cy="3581400"/>
          </a:xfrm>
          <a:prstGeom prst="rect">
            <a:avLst/>
          </a:prstGeom>
          <a:solidFill>
            <a:srgbClr val="9D262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981200"/>
            <a:ext cx="5486400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68680" indent="-182563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5156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173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8308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Malignant cases were generally associated with larger tumor sizes compared to benign cases.</a:t>
            </a:r>
          </a:p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Most benign cases were concentrated within smaller tumor sizes, mainly between 1cm and 5cm.</a:t>
            </a:r>
          </a:p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Larger tumor sizes above 6cm were more frequently linked to malignant diagnoses.</a:t>
            </a:r>
          </a:p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Malignant cases were more common among middle-aged and older patients.</a:t>
            </a:r>
          </a:p>
        </p:txBody>
      </p:sp>
      <p:pic>
        <p:nvPicPr>
          <p:cNvPr id="6" name="Picture 5" descr="C:\Users\DELL\AppData\Local\Microsoft\Windows\INetCache\Content.MSO\D00BA84B.tmp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362200"/>
            <a:ext cx="5562600" cy="3429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3780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228600"/>
            <a:ext cx="12192000" cy="1116875"/>
          </a:xfrm>
          <a:prstGeom prst="rect">
            <a:avLst/>
          </a:prstGeom>
          <a:solidFill>
            <a:srgbClr val="932425"/>
          </a:solidFill>
          <a:ln>
            <a:solidFill>
              <a:srgbClr val="932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00013"/>
            <a:ext cx="11506200" cy="1325562"/>
          </a:xfrm>
        </p:spPr>
        <p:txBody>
          <a:bodyPr/>
          <a:lstStyle/>
          <a:p>
            <a:pPr algn="ctr"/>
            <a:r>
              <a:rPr lang="en-US" b="1" dirty="0" smtClean="0">
                <a:latin typeface="Franklin Gothic Book" panose="020B0503020102020204" pitchFamily="34" charset="0"/>
              </a:rPr>
              <a:t>Impact </a:t>
            </a:r>
            <a:r>
              <a:rPr lang="en-US" b="1" dirty="0">
                <a:latin typeface="Franklin Gothic Book" panose="020B0503020102020204" pitchFamily="34" charset="0"/>
              </a:rPr>
              <a:t>of Menopause on Breast Cancer Diagnosis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0" y="2057400"/>
            <a:ext cx="5715000" cy="4389120"/>
          </a:xfrm>
          <a:prstGeom prst="rect">
            <a:avLst/>
          </a:prstGeom>
          <a:solidFill>
            <a:srgbClr val="9D262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981200"/>
            <a:ext cx="5486400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68680" indent="-182563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5156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173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8308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Pre-menopausal patients recorded the highest number of benign cases with 99 cases.</a:t>
            </a:r>
          </a:p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Post-menopausal patients showed a higher number of malignant cases with 50 recorded cases.</a:t>
            </a:r>
          </a:p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Malignant diagnoses were more common among post-menopausal patients compared to benign diagnoses.</a:t>
            </a:r>
          </a:p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The results suggest a possible relationship between menopause status and breast cancer severity</a:t>
            </a:r>
            <a:r>
              <a:rPr lang="en-US" sz="2200" dirty="0" smtClean="0">
                <a:solidFill>
                  <a:schemeClr val="tx1"/>
                </a:solidFill>
                <a:latin typeface="Franklin Gothic Book" panose="020B0503020102020204" pitchFamily="34" charset="0"/>
              </a:rPr>
              <a:t>.</a:t>
            </a:r>
            <a:endParaRPr lang="en-US" sz="2200" dirty="0">
              <a:solidFill>
                <a:schemeClr val="tx1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7" name="Picture 6" descr="C:\Users\DELL\AppData\Local\Microsoft\Windows\INetCache\Content.MSO\15AE7391.tmp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133600"/>
            <a:ext cx="5606415" cy="42564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433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228600"/>
            <a:ext cx="12192000" cy="1116875"/>
          </a:xfrm>
          <a:prstGeom prst="rect">
            <a:avLst/>
          </a:prstGeom>
          <a:solidFill>
            <a:srgbClr val="932425"/>
          </a:solidFill>
          <a:ln>
            <a:solidFill>
              <a:srgbClr val="932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00013"/>
            <a:ext cx="11506200" cy="1325562"/>
          </a:xfrm>
        </p:spPr>
        <p:txBody>
          <a:bodyPr/>
          <a:lstStyle/>
          <a:p>
            <a:pPr algn="ctr"/>
            <a:r>
              <a:rPr lang="en-US" b="1" dirty="0" smtClean="0">
                <a:latin typeface="Franklin Gothic Book" panose="020B0503020102020204" pitchFamily="34" charset="0"/>
              </a:rPr>
              <a:t>Relationship Between Metastasis and </a:t>
            </a:r>
            <a:r>
              <a:rPr lang="en-US" b="1" dirty="0">
                <a:latin typeface="Franklin Gothic Book" panose="020B0503020102020204" pitchFamily="34" charset="0"/>
              </a:rPr>
              <a:t>Diagnosis Severity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0" y="2057400"/>
            <a:ext cx="5715000" cy="4370832"/>
          </a:xfrm>
          <a:prstGeom prst="rect">
            <a:avLst/>
          </a:prstGeom>
          <a:solidFill>
            <a:srgbClr val="9D262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981200"/>
            <a:ext cx="5486400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68680" indent="-182563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5156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173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8308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Most malignant cases were associated with metastasis, with 70 recorded cases.</a:t>
            </a:r>
          </a:p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Benign cases showed very low metastasis occurrence, with only 4 cases.</a:t>
            </a:r>
          </a:p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The majority of non-metastatic cases were benign diagnoses.</a:t>
            </a:r>
          </a:p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The results indicate a strong relationship between metastasis and malignant breast cancer diagnosis.</a:t>
            </a:r>
          </a:p>
        </p:txBody>
      </p:sp>
      <p:pic>
        <p:nvPicPr>
          <p:cNvPr id="6" name="Picture 5" descr="C:\Users\DELL\AppData\Local\Microsoft\Windows\INetCache\Content.MSO\5083CCC7.tmp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133600"/>
            <a:ext cx="5606415" cy="42456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1153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800" y="2057400"/>
            <a:ext cx="5715000" cy="4191000"/>
          </a:xfrm>
          <a:prstGeom prst="rect">
            <a:avLst/>
          </a:prstGeom>
          <a:solidFill>
            <a:srgbClr val="9D262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981200"/>
            <a:ext cx="5486400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68680" indent="-182563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5156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173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8308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Patients with zero involved lymph nodes were mostly benign cases with 119 recorded cases.</a:t>
            </a:r>
          </a:p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Malignant cases were strongly associated with involved lymph nodes, especially at level 1 with 71 cases.</a:t>
            </a:r>
          </a:p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Higher lymph node involvement showed a clear shift toward malignant diagnosis.</a:t>
            </a:r>
          </a:p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The results indicate lymph node involvement is a strong indicator of cancer severity</a:t>
            </a:r>
          </a:p>
        </p:txBody>
      </p:sp>
      <p:pic>
        <p:nvPicPr>
          <p:cNvPr id="7" name="Picture 6" descr="C:\Users\DELL\AppData\Local\Microsoft\Windows\INetCache\Content.MSO\313B196D.tmp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133600"/>
            <a:ext cx="5562600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0" y="228600"/>
            <a:ext cx="12192000" cy="1116875"/>
          </a:xfrm>
          <a:prstGeom prst="rect">
            <a:avLst/>
          </a:prstGeom>
          <a:solidFill>
            <a:srgbClr val="932425"/>
          </a:solidFill>
          <a:ln>
            <a:solidFill>
              <a:srgbClr val="932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00013"/>
            <a:ext cx="11506200" cy="1325562"/>
          </a:xfrm>
        </p:spPr>
        <p:txBody>
          <a:bodyPr/>
          <a:lstStyle/>
          <a:p>
            <a:pPr algn="ctr"/>
            <a:r>
              <a:rPr lang="en-US" dirty="0" smtClean="0"/>
              <a:t>Relationship </a:t>
            </a:r>
            <a:r>
              <a:rPr lang="en-US" dirty="0"/>
              <a:t>Between Involved </a:t>
            </a:r>
            <a:r>
              <a:rPr lang="en-US" dirty="0" smtClean="0"/>
              <a:t>Lymph Nodes </a:t>
            </a:r>
            <a:r>
              <a:rPr lang="en-US" dirty="0"/>
              <a:t>and </a:t>
            </a:r>
            <a:r>
              <a:rPr lang="en-US" dirty="0" smtClean="0"/>
              <a:t>Diagnosis Result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07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228600"/>
            <a:ext cx="12192000" cy="1116875"/>
          </a:xfrm>
          <a:prstGeom prst="rect">
            <a:avLst/>
          </a:prstGeom>
          <a:solidFill>
            <a:srgbClr val="932425"/>
          </a:solidFill>
          <a:ln>
            <a:solidFill>
              <a:srgbClr val="932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00013"/>
            <a:ext cx="11506200" cy="1325562"/>
          </a:xfrm>
        </p:spPr>
        <p:txBody>
          <a:bodyPr/>
          <a:lstStyle/>
          <a:p>
            <a:pPr algn="ctr"/>
            <a:r>
              <a:rPr lang="en-US" b="1" dirty="0" smtClean="0">
                <a:latin typeface="Franklin Gothic Book" panose="020B0503020102020204" pitchFamily="34" charset="0"/>
              </a:rPr>
              <a:t>Distribution of Breast </a:t>
            </a:r>
            <a:r>
              <a:rPr lang="en-US" b="1" dirty="0">
                <a:latin typeface="Franklin Gothic Book" panose="020B0503020102020204" pitchFamily="34" charset="0"/>
              </a:rPr>
              <a:t>Cancer </a:t>
            </a:r>
            <a:r>
              <a:rPr lang="en-US" b="1" dirty="0" smtClean="0">
                <a:latin typeface="Franklin Gothic Book" panose="020B0503020102020204" pitchFamily="34" charset="0"/>
              </a:rPr>
              <a:t>Cases </a:t>
            </a:r>
            <a:r>
              <a:rPr lang="en-US" b="1" dirty="0">
                <a:latin typeface="Franklin Gothic Book" panose="020B0503020102020204" pitchFamily="34" charset="0"/>
              </a:rPr>
              <a:t>by Breast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0" y="1600200"/>
            <a:ext cx="5715000" cy="5181600"/>
          </a:xfrm>
          <a:prstGeom prst="rect">
            <a:avLst/>
          </a:prstGeom>
          <a:solidFill>
            <a:srgbClr val="9D262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981200"/>
            <a:ext cx="5486400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68680" indent="-182563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5156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173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8308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Breast cancer cases were evenly distributed between the left and right breast.</a:t>
            </a:r>
          </a:p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No significant difference was observed in the occurrence rate between both sides.</a:t>
            </a:r>
          </a:p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The results suggest breast side does not strongly influence diagnosis patterns in this dataset.</a:t>
            </a:r>
          </a:p>
        </p:txBody>
      </p:sp>
      <p:pic>
        <p:nvPicPr>
          <p:cNvPr id="6" name="Picture 5" descr="C:\Users\DELL\AppData\Local\Microsoft\Windows\INetCache\Content.MSO\501E5CF4.tmp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676400"/>
            <a:ext cx="5562600" cy="246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C:\Users\DELL\AppData\Local\Microsoft\Windows\INetCache\Content.MSO\EEC7322.tmp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236720"/>
            <a:ext cx="5562600" cy="24688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819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28600"/>
            <a:ext cx="12192000" cy="1116875"/>
          </a:xfrm>
          <a:prstGeom prst="rect">
            <a:avLst/>
          </a:prstGeom>
          <a:solidFill>
            <a:srgbClr val="932425"/>
          </a:solidFill>
          <a:ln>
            <a:solidFill>
              <a:srgbClr val="932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00013"/>
            <a:ext cx="11506200" cy="1325562"/>
          </a:xfrm>
        </p:spPr>
        <p:txBody>
          <a:bodyPr/>
          <a:lstStyle/>
          <a:p>
            <a:pPr algn="ctr"/>
            <a:r>
              <a:rPr lang="en-US" b="1" dirty="0">
                <a:latin typeface="Franklin Gothic Book" panose="020B0503020102020204" pitchFamily="34" charset="0"/>
              </a:rPr>
              <a:t>Distribution of Breast Cancer </a:t>
            </a:r>
            <a:r>
              <a:rPr lang="en-US" b="1" dirty="0" smtClean="0">
                <a:latin typeface="Franklin Gothic Book" panose="020B0503020102020204" pitchFamily="34" charset="0"/>
              </a:rPr>
              <a:t>Cases Across Breast Quadrants</a:t>
            </a:r>
            <a:endParaRPr lang="en-US" b="1" dirty="0">
              <a:latin typeface="Franklin Gothic Book" panose="020B05030201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0" y="1600200"/>
            <a:ext cx="5715000" cy="5181600"/>
          </a:xfrm>
          <a:prstGeom prst="rect">
            <a:avLst/>
          </a:prstGeom>
          <a:solidFill>
            <a:srgbClr val="9D262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981200"/>
            <a:ext cx="5486400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68680" indent="-182563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5156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173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8308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Breast cancer cases were evenly distributed between the left and right breast.</a:t>
            </a:r>
          </a:p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No significant difference was observed in the occurrence rate between both sides.</a:t>
            </a:r>
          </a:p>
          <a:p>
            <a:pPr lvl="0"/>
            <a:r>
              <a:rPr lang="en-US" sz="2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The results suggest breast side does not strongly influence diagnosis patterns in this dataset.</a:t>
            </a:r>
          </a:p>
        </p:txBody>
      </p:sp>
      <p:pic>
        <p:nvPicPr>
          <p:cNvPr id="7" name="Picture 6" descr="C:\Users\DELL\AppData\Local\Microsoft\Windows\INetCache\Content.MSO\337DB18E.tmp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676400"/>
            <a:ext cx="5562600" cy="2512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C:\Users\DELL\AppData\Local\Microsoft\Windows\INetCache\Content.MSO\C2F2A4CC.tmp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267200"/>
            <a:ext cx="5562600" cy="24593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15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0" y="917912"/>
            <a:ext cx="11582400" cy="5940088"/>
          </a:xfrm>
          <a:prstGeom prst="rect">
            <a:avLst/>
          </a:prstGeom>
          <a:noFill/>
        </p:spPr>
        <p:txBody>
          <a:bodyPr wrap="square" numCol="2" spcCol="457200" rtlCol="0">
            <a:spAutoFit/>
          </a:bodyPr>
          <a:lstStyle/>
          <a:p>
            <a:r>
              <a:rPr lang="en-US" sz="2000" dirty="0" smtClean="0">
                <a:latin typeface="Franklin Gothic Book" panose="020B0503020102020204" pitchFamily="34" charset="0"/>
              </a:rPr>
              <a:t>1</a:t>
            </a:r>
            <a:r>
              <a:rPr lang="en-US" sz="2000" dirty="0">
                <a:latin typeface="Franklin Gothic Book" panose="020B0503020102020204" pitchFamily="34" charset="0"/>
              </a:rPr>
              <a:t>. What percentage of patients were diagnosed with malignant breast cancer?</a:t>
            </a:r>
          </a:p>
          <a:p>
            <a:r>
              <a:rPr lang="en-US" sz="2000" b="1" dirty="0" err="1">
                <a:latin typeface="Franklin Gothic Book" panose="020B0503020102020204" pitchFamily="34" charset="0"/>
              </a:rPr>
              <a:t>Ans</a:t>
            </a:r>
            <a:r>
              <a:rPr lang="en-US" sz="2000" b="1" dirty="0">
                <a:latin typeface="Franklin Gothic Book" panose="020B0503020102020204" pitchFamily="34" charset="0"/>
              </a:rPr>
              <a:t>: </a:t>
            </a:r>
            <a:r>
              <a:rPr lang="en-US" sz="2000" dirty="0" smtClean="0">
                <a:latin typeface="Franklin Gothic Book" panose="020B0503020102020204" pitchFamily="34" charset="0"/>
              </a:rPr>
              <a:t>Malignant </a:t>
            </a:r>
            <a:r>
              <a:rPr lang="en-US" sz="2000" dirty="0">
                <a:latin typeface="Franklin Gothic Book" panose="020B0503020102020204" pitchFamily="34" charset="0"/>
              </a:rPr>
              <a:t>cases make up a significant portion of the dataset but are slightly fewer than benign cases.</a:t>
            </a:r>
          </a:p>
          <a:p>
            <a:r>
              <a:rPr lang="en-US" sz="2000" dirty="0">
                <a:latin typeface="Franklin Gothic Book" panose="020B0503020102020204" pitchFamily="34" charset="0"/>
              </a:rPr>
              <a:t>2. Which age group is most vulnerable?</a:t>
            </a:r>
          </a:p>
          <a:p>
            <a:r>
              <a:rPr lang="en-US" sz="2000" b="1" dirty="0" err="1">
                <a:latin typeface="Franklin Gothic Book" panose="020B0503020102020204" pitchFamily="34" charset="0"/>
              </a:rPr>
              <a:t>Ans</a:t>
            </a:r>
            <a:r>
              <a:rPr lang="en-US" sz="2000" b="1" dirty="0">
                <a:latin typeface="Franklin Gothic Book" panose="020B0503020102020204" pitchFamily="34" charset="0"/>
              </a:rPr>
              <a:t>: </a:t>
            </a:r>
            <a:r>
              <a:rPr lang="en-US" sz="2000" dirty="0" smtClean="0">
                <a:latin typeface="Franklin Gothic Book" panose="020B0503020102020204" pitchFamily="34" charset="0"/>
              </a:rPr>
              <a:t>Patients </a:t>
            </a:r>
            <a:r>
              <a:rPr lang="en-US" sz="2000" dirty="0">
                <a:latin typeface="Franklin Gothic Book" panose="020B0503020102020204" pitchFamily="34" charset="0"/>
              </a:rPr>
              <a:t>aged 40–50 are the most vulnerable group.</a:t>
            </a:r>
          </a:p>
          <a:p>
            <a:r>
              <a:rPr lang="en-US" sz="2000" dirty="0">
                <a:latin typeface="Franklin Gothic Book" panose="020B0503020102020204" pitchFamily="34" charset="0"/>
              </a:rPr>
              <a:t>3. Did cancer cases increase in 2020?</a:t>
            </a:r>
          </a:p>
          <a:p>
            <a:r>
              <a:rPr lang="en-US" sz="2000" b="1" dirty="0" err="1">
                <a:latin typeface="Franklin Gothic Book" panose="020B0503020102020204" pitchFamily="34" charset="0"/>
              </a:rPr>
              <a:t>Ans</a:t>
            </a:r>
            <a:r>
              <a:rPr lang="en-US" sz="2000" b="1" dirty="0">
                <a:latin typeface="Franklin Gothic Book" panose="020B0503020102020204" pitchFamily="34" charset="0"/>
              </a:rPr>
              <a:t>: </a:t>
            </a:r>
            <a:r>
              <a:rPr lang="en-US" sz="2000" dirty="0">
                <a:latin typeface="Franklin Gothic Book" panose="020B0503020102020204" pitchFamily="34" charset="0"/>
              </a:rPr>
              <a:t>Total cases slightly increased in 2020 compared to 2019.</a:t>
            </a:r>
          </a:p>
          <a:p>
            <a:r>
              <a:rPr lang="en-US" sz="2000" dirty="0">
                <a:latin typeface="Franklin Gothic Book" panose="020B0503020102020204" pitchFamily="34" charset="0"/>
              </a:rPr>
              <a:t>4. Are larger tumors usually malignant?</a:t>
            </a:r>
          </a:p>
          <a:p>
            <a:r>
              <a:rPr lang="en-US" sz="2000" b="1" dirty="0" err="1">
                <a:latin typeface="Franklin Gothic Book" panose="020B0503020102020204" pitchFamily="34" charset="0"/>
              </a:rPr>
              <a:t>Ans</a:t>
            </a:r>
            <a:r>
              <a:rPr lang="en-US" sz="2000" b="1" dirty="0">
                <a:latin typeface="Franklin Gothic Book" panose="020B0503020102020204" pitchFamily="34" charset="0"/>
              </a:rPr>
              <a:t>: </a:t>
            </a:r>
            <a:r>
              <a:rPr lang="en-US" sz="2000" dirty="0">
                <a:latin typeface="Franklin Gothic Book" panose="020B0503020102020204" pitchFamily="34" charset="0"/>
              </a:rPr>
              <a:t>Larger tumors are more commonly associated with malignant diagnoses.</a:t>
            </a:r>
          </a:p>
          <a:p>
            <a:r>
              <a:rPr lang="en-US" sz="2000" dirty="0">
                <a:latin typeface="Franklin Gothic Book" panose="020B0503020102020204" pitchFamily="34" charset="0"/>
              </a:rPr>
              <a:t>5. Does menopause increase malignant diagnosis risk?</a:t>
            </a:r>
          </a:p>
          <a:p>
            <a:r>
              <a:rPr lang="en-US" sz="2000" b="1" dirty="0" err="1">
                <a:latin typeface="Franklin Gothic Book" panose="020B0503020102020204" pitchFamily="34" charset="0"/>
              </a:rPr>
              <a:t>Ans</a:t>
            </a:r>
            <a:r>
              <a:rPr lang="en-US" sz="2000" b="1" dirty="0">
                <a:latin typeface="Franklin Gothic Book" panose="020B0503020102020204" pitchFamily="34" charset="0"/>
              </a:rPr>
              <a:t>: </a:t>
            </a:r>
            <a:r>
              <a:rPr lang="en-US" sz="2000" dirty="0">
                <a:latin typeface="Franklin Gothic Book" panose="020B0503020102020204" pitchFamily="34" charset="0"/>
              </a:rPr>
              <a:t>Post-menopausal patients show a higher occurrence of malignant cases</a:t>
            </a:r>
            <a:r>
              <a:rPr lang="en-US" sz="2000" dirty="0" smtClean="0">
                <a:latin typeface="Franklin Gothic Book" panose="020B0503020102020204" pitchFamily="34" charset="0"/>
              </a:rPr>
              <a:t>.</a:t>
            </a:r>
          </a:p>
          <a:p>
            <a:endParaRPr lang="en-US" sz="2000" dirty="0">
              <a:latin typeface="Franklin Gothic Book" panose="020B0503020102020204" pitchFamily="34" charset="0"/>
            </a:endParaRPr>
          </a:p>
          <a:p>
            <a:r>
              <a:rPr lang="en-US" sz="2000" dirty="0">
                <a:latin typeface="Franklin Gothic Book" panose="020B0503020102020204" pitchFamily="34" charset="0"/>
              </a:rPr>
              <a:t>6. How strongly is metastasis connected to malignancy?</a:t>
            </a:r>
          </a:p>
          <a:p>
            <a:r>
              <a:rPr lang="en-US" sz="2000" b="1" dirty="0" err="1">
                <a:latin typeface="Franklin Gothic Book" panose="020B0503020102020204" pitchFamily="34" charset="0"/>
              </a:rPr>
              <a:t>Ans</a:t>
            </a:r>
            <a:r>
              <a:rPr lang="en-US" sz="2000" b="1" dirty="0">
                <a:latin typeface="Franklin Gothic Book" panose="020B0503020102020204" pitchFamily="34" charset="0"/>
              </a:rPr>
              <a:t>: </a:t>
            </a:r>
            <a:r>
              <a:rPr lang="en-US" sz="2000" dirty="0">
                <a:latin typeface="Franklin Gothic Book" panose="020B0503020102020204" pitchFamily="34" charset="0"/>
              </a:rPr>
              <a:t>Metastasis is strongly linked to malignant diagnosis</a:t>
            </a:r>
            <a:r>
              <a:rPr lang="en-US" sz="2000" dirty="0" smtClean="0">
                <a:latin typeface="Franklin Gothic Book" panose="020B0503020102020204" pitchFamily="34" charset="0"/>
              </a:rPr>
              <a:t>.</a:t>
            </a:r>
          </a:p>
          <a:p>
            <a:r>
              <a:rPr lang="en-US" sz="2000" dirty="0" smtClean="0">
                <a:latin typeface="Franklin Gothic Book" panose="020B0503020102020204" pitchFamily="34" charset="0"/>
              </a:rPr>
              <a:t>7</a:t>
            </a:r>
            <a:r>
              <a:rPr lang="en-US" sz="2000" dirty="0">
                <a:latin typeface="Franklin Gothic Book" panose="020B0503020102020204" pitchFamily="34" charset="0"/>
              </a:rPr>
              <a:t>. Which breast quadrant is most commonly affected?</a:t>
            </a:r>
          </a:p>
          <a:p>
            <a:r>
              <a:rPr lang="en-US" sz="2000" b="1" dirty="0" err="1">
                <a:latin typeface="Franklin Gothic Book" panose="020B0503020102020204" pitchFamily="34" charset="0"/>
              </a:rPr>
              <a:t>Ans</a:t>
            </a:r>
            <a:r>
              <a:rPr lang="en-US" sz="2000" b="1" dirty="0">
                <a:latin typeface="Franklin Gothic Book" panose="020B0503020102020204" pitchFamily="34" charset="0"/>
              </a:rPr>
              <a:t>: </a:t>
            </a:r>
            <a:r>
              <a:rPr lang="en-US" sz="2000" dirty="0">
                <a:latin typeface="Franklin Gothic Book" panose="020B0503020102020204" pitchFamily="34" charset="0"/>
              </a:rPr>
              <a:t>No specific breast quadrant is more commonly affected than others.</a:t>
            </a:r>
          </a:p>
          <a:p>
            <a:r>
              <a:rPr lang="en-US" sz="2000" dirty="0">
                <a:latin typeface="Franklin Gothic Book" panose="020B0503020102020204" pitchFamily="34" charset="0"/>
              </a:rPr>
              <a:t>8. Are patients with medical history at greater risk?</a:t>
            </a:r>
          </a:p>
          <a:p>
            <a:r>
              <a:rPr lang="en-US" sz="2000" b="1" dirty="0" err="1">
                <a:latin typeface="Franklin Gothic Book" panose="020B0503020102020204" pitchFamily="34" charset="0"/>
              </a:rPr>
              <a:t>Ans</a:t>
            </a:r>
            <a:r>
              <a:rPr lang="en-US" sz="2000" b="1" dirty="0">
                <a:latin typeface="Franklin Gothic Book" panose="020B0503020102020204" pitchFamily="34" charset="0"/>
              </a:rPr>
              <a:t>: </a:t>
            </a:r>
            <a:r>
              <a:rPr lang="en-US" sz="2000" dirty="0">
                <a:latin typeface="Franklin Gothic Book" panose="020B0503020102020204" pitchFamily="34" charset="0"/>
              </a:rPr>
              <a:t>Post-menopausal status appears to be associated with higher risk.</a:t>
            </a:r>
          </a:p>
          <a:p>
            <a:r>
              <a:rPr lang="en-US" sz="2000" dirty="0">
                <a:latin typeface="Franklin Gothic Book" panose="020B0503020102020204" pitchFamily="34" charset="0"/>
              </a:rPr>
              <a:t>9. Can involved lymph nodes help predict severity?</a:t>
            </a:r>
          </a:p>
          <a:p>
            <a:r>
              <a:rPr lang="en-US" sz="2000" b="1" dirty="0" err="1">
                <a:latin typeface="Franklin Gothic Book" panose="020B0503020102020204" pitchFamily="34" charset="0"/>
              </a:rPr>
              <a:t>Ans</a:t>
            </a:r>
            <a:r>
              <a:rPr lang="en-US" sz="2000" b="1" dirty="0">
                <a:latin typeface="Franklin Gothic Book" panose="020B0503020102020204" pitchFamily="34" charset="0"/>
              </a:rPr>
              <a:t>: </a:t>
            </a:r>
            <a:r>
              <a:rPr lang="en-US" sz="2000" dirty="0">
                <a:latin typeface="Franklin Gothic Book" panose="020B0503020102020204" pitchFamily="34" charset="0"/>
              </a:rPr>
              <a:t>Higher involved lymph nodes are strongly associated with malignant cases.</a:t>
            </a:r>
          </a:p>
          <a:p>
            <a:r>
              <a:rPr lang="en-US" sz="2000" dirty="0">
                <a:latin typeface="Franklin Gothic Book" panose="020B0503020102020204" pitchFamily="34" charset="0"/>
              </a:rPr>
              <a:t>10. Which factors appear most associated with malignant diagnosis?</a:t>
            </a:r>
          </a:p>
          <a:p>
            <a:r>
              <a:rPr lang="en-US" sz="2000" b="1" dirty="0" err="1">
                <a:latin typeface="Franklin Gothic Book" panose="020B0503020102020204" pitchFamily="34" charset="0"/>
              </a:rPr>
              <a:t>Ans</a:t>
            </a:r>
            <a:r>
              <a:rPr lang="en-US" sz="2000" b="1" dirty="0">
                <a:latin typeface="Franklin Gothic Book" panose="020B0503020102020204" pitchFamily="34" charset="0"/>
              </a:rPr>
              <a:t>: </a:t>
            </a:r>
            <a:r>
              <a:rPr lang="en-US" sz="2000" dirty="0" smtClean="0">
                <a:latin typeface="Franklin Gothic Book" panose="020B0503020102020204" pitchFamily="34" charset="0"/>
              </a:rPr>
              <a:t>Menopause</a:t>
            </a:r>
            <a:r>
              <a:rPr lang="en-US" sz="2000" b="1" dirty="0" smtClean="0">
                <a:latin typeface="Franklin Gothic Book" panose="020B0503020102020204" pitchFamily="34" charset="0"/>
              </a:rPr>
              <a:t>, </a:t>
            </a:r>
            <a:r>
              <a:rPr lang="en-US" sz="2000" dirty="0" smtClean="0">
                <a:latin typeface="Franklin Gothic Book" panose="020B0503020102020204" pitchFamily="34" charset="0"/>
              </a:rPr>
              <a:t>Tumor </a:t>
            </a:r>
            <a:r>
              <a:rPr lang="en-US" sz="2000" dirty="0">
                <a:latin typeface="Franklin Gothic Book" panose="020B0503020102020204" pitchFamily="34" charset="0"/>
              </a:rPr>
              <a:t>size, </a:t>
            </a:r>
            <a:r>
              <a:rPr lang="en-US" sz="2000" dirty="0" smtClean="0">
                <a:latin typeface="Franklin Gothic Book" panose="020B0503020102020204" pitchFamily="34" charset="0"/>
              </a:rPr>
              <a:t>metastasis, History </a:t>
            </a:r>
            <a:r>
              <a:rPr lang="en-US" sz="2000" dirty="0">
                <a:latin typeface="Franklin Gothic Book" panose="020B0503020102020204" pitchFamily="34" charset="0"/>
              </a:rPr>
              <a:t>and lymph node involvement are the strongest indicators of malignancy.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932425"/>
          </a:solidFill>
          <a:ln>
            <a:solidFill>
              <a:srgbClr val="932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"/>
            <a:ext cx="12192000" cy="838199"/>
          </a:xfrm>
        </p:spPr>
        <p:txBody>
          <a:bodyPr/>
          <a:lstStyle/>
          <a:p>
            <a:pPr algn="ctr"/>
            <a:r>
              <a:rPr lang="en-US" b="1" dirty="0" smtClean="0">
                <a:latin typeface="Franklin Gothic Book" panose="020B0503020102020204" pitchFamily="34" charset="0"/>
              </a:rPr>
              <a:t>Medical Questions &amp; Findings</a:t>
            </a:r>
            <a:endParaRPr lang="en-US" b="1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834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13" r="18404"/>
          <a:stretch/>
        </p:blipFill>
        <p:spPr>
          <a:xfrm>
            <a:off x="0" y="1"/>
            <a:ext cx="7010400" cy="68311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7315199" y="805912"/>
            <a:ext cx="4602997" cy="106909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 cap="all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THANK YOU</a:t>
            </a:r>
            <a:endParaRPr lang="en-US" sz="3000" b="1" cap="all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7239000" y="3122023"/>
            <a:ext cx="4724400" cy="3148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cap="all" dirty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Presented </a:t>
            </a:r>
            <a:r>
              <a:rPr lang="en-US" sz="1800" b="1" cap="all" dirty="0" smtClean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by</a:t>
            </a:r>
            <a:endParaRPr lang="en-US" sz="1800" b="1" cap="all" dirty="0">
              <a:solidFill>
                <a:schemeClr val="bg1"/>
              </a:solidFill>
              <a:latin typeface="Segoe UI Semibold" panose="020B0702040204020203" pitchFamily="34" charset="0"/>
              <a:ea typeface="Segoe UI Historic" panose="020B0502040204020203" pitchFamily="34" charset="0"/>
              <a:cs typeface="Segoe UI Semibold" panose="020B0702040204020203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1800" b="1" cap="all" dirty="0" err="1" smtClean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Ademola</a:t>
            </a:r>
            <a:r>
              <a:rPr lang="en-US" sz="1800" b="1" cap="all" dirty="0" smtClean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 Abraham</a:t>
            </a:r>
            <a:r>
              <a:rPr lang="en-US" sz="1800" b="1" cap="all" dirty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/>
            </a:r>
            <a:br>
              <a:rPr lang="en-US" sz="1800" b="1" cap="all" dirty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</a:br>
            <a:r>
              <a:rPr lang="en-US" sz="1800" b="1" cap="all" dirty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Data </a:t>
            </a:r>
            <a:r>
              <a:rPr lang="en-US" sz="1800" b="1" cap="all" dirty="0" smtClean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Analyst</a:t>
            </a:r>
          </a:p>
          <a:p>
            <a:pPr algn="ctr">
              <a:lnSpc>
                <a:spcPct val="100000"/>
              </a:lnSpc>
            </a:pPr>
            <a:endParaRPr lang="en-US" sz="1800" b="1" cap="all" dirty="0" smtClean="0">
              <a:solidFill>
                <a:schemeClr val="bg1"/>
              </a:solidFill>
              <a:latin typeface="Segoe UI Semibold" panose="020B0702040204020203" pitchFamily="34" charset="0"/>
              <a:ea typeface="Segoe UI Historic" panose="020B0502040204020203" pitchFamily="34" charset="0"/>
              <a:cs typeface="Segoe UI Semibold" panose="020B0702040204020203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1800" b="1" cap="all" dirty="0">
                <a:solidFill>
                  <a:schemeClr val="bg1"/>
                </a:solidFill>
                <a:latin typeface="Segoe UI Semibold" panose="020B0702040204020203" pitchFamily="34" charset="0"/>
                <a:ea typeface="Segoe UI Historic" panose="020B0502040204020203" pitchFamily="34" charset="0"/>
                <a:cs typeface="Segoe UI Semibold" panose="020B0702040204020203" pitchFamily="34" charset="0"/>
              </a:rPr>
              <a:t>Open to questions and further discussion</a:t>
            </a:r>
          </a:p>
        </p:txBody>
      </p:sp>
    </p:spTree>
    <p:extLst>
      <p:ext uri="{BB962C8B-B14F-4D97-AF65-F5344CB8AC3E}">
        <p14:creationId xmlns:p14="http://schemas.microsoft.com/office/powerpoint/2010/main" val="50129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dical Design 16x9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41.potx" id="{D7485564-6666-4DDB-B0D3-55F6E694D6E5}" vid="{6E950D30-6FC6-4411-BCFF-468AD9ECA787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Medical design presentation (widescreen)</Template>
  <TotalTime>1914</TotalTime>
  <Words>1095</Words>
  <Application>Microsoft Office PowerPoint</Application>
  <PresentationFormat>Widescreen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Franklin Gothic Book</vt:lpstr>
      <vt:lpstr>Franklin Gothic Medium</vt:lpstr>
      <vt:lpstr>Segoe UI Black</vt:lpstr>
      <vt:lpstr>Segoe UI Historic</vt:lpstr>
      <vt:lpstr>Segoe UI Semibold</vt:lpstr>
      <vt:lpstr>Wingdings</vt:lpstr>
      <vt:lpstr>Medical Design 16x9</vt:lpstr>
      <vt:lpstr>PowerPoint Presentation</vt:lpstr>
      <vt:lpstr>Background &amp; Purpose Of Analysis</vt:lpstr>
      <vt:lpstr>Dataset Overview</vt:lpstr>
      <vt:lpstr>Distribution of Benign and Malignant Cancer Diagnoses</vt:lpstr>
      <vt:lpstr>Yearly Comparison of Breast Cancer Diagnosis Cases (2019 -- 2020)</vt:lpstr>
      <vt:lpstr>Age Groups Distribution of Breast Cancer Cases</vt:lpstr>
      <vt:lpstr>Relationship Between Tumor Size and Diagnosis Result</vt:lpstr>
      <vt:lpstr>Impact of Menopause on Breast Cancer Diagnosis</vt:lpstr>
      <vt:lpstr>Relationship Between Metastasis and Diagnosis Severity</vt:lpstr>
      <vt:lpstr>Relationship Between Involved Lymph Nodes and Diagnosis Result</vt:lpstr>
      <vt:lpstr>Distribution of Breast Cancer Cases by Breast Side</vt:lpstr>
      <vt:lpstr>Distribution of Breast Cancer Cases Across Breast Quadrants</vt:lpstr>
      <vt:lpstr>Medical Questions &amp; Findings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2019 – 2020 Patient Diagnosis Study Prepared Using Python &amp; Jupyter Notebook</dc:title>
  <dc:creator>DELL</dc:creator>
  <cp:lastModifiedBy>DELL</cp:lastModifiedBy>
  <cp:revision>35</cp:revision>
  <dcterms:created xsi:type="dcterms:W3CDTF">2026-05-22T14:51:19Z</dcterms:created>
  <dcterms:modified xsi:type="dcterms:W3CDTF">2026-05-25T03:27:29Z</dcterms:modified>
</cp:coreProperties>
</file>