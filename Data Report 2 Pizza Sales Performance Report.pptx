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1" r:id="rId6"/>
    <p:sldId id="279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5219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3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142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3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459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124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247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3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973" y="805912"/>
            <a:ext cx="11670224" cy="1069099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000" b="1" cap="all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Pizza Sales Performance Report (1-Year Analysis)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63679" y="1875012"/>
            <a:ext cx="10838812" cy="829001"/>
          </a:xfrm>
        </p:spPr>
        <p:txBody>
          <a:bodyPr>
            <a:noAutofit/>
          </a:bodyPr>
          <a:lstStyle/>
          <a:p>
            <a:pPr algn="ctr"/>
            <a:r>
              <a:rPr lang="en-US" sz="2000" b="1" cap="all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Data-Driven Review of Revenue, Customer Behavior &amp; Product Performance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91717" y="3122023"/>
            <a:ext cx="9582736" cy="314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Presented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by</a:t>
            </a:r>
            <a:endParaRPr lang="en-US" sz="1800" b="1" cap="all" dirty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 err="1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Ademola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 Abraham</a:t>
            </a: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/>
            </a:r>
            <a:b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</a:b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Data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Analyst</a:t>
            </a:r>
          </a:p>
          <a:p>
            <a:pPr algn="ctr">
              <a:lnSpc>
                <a:spcPct val="100000"/>
              </a:lnSpc>
            </a:pPr>
            <a:endParaRPr lang="en-US" sz="1800" b="1" cap="all" dirty="0" smtClean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Date</a:t>
            </a:r>
            <a:endParaRPr lang="en-US" sz="1800" b="1" cap="all" dirty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March 2026</a:t>
            </a:r>
            <a:endParaRPr lang="en-US" sz="1800" b="1" cap="all" dirty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117799" cy="640080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BUSINESS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PROBLEM</a:t>
            </a:r>
            <a:endParaRPr lang="en-US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550833"/>
            <a:ext cx="11097397" cy="456258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currently lacks clear visibility into its sales performance and customer purchasing patterns.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Despite having a full year of transaction data, key questions remain unanswered:</a:t>
            </a:r>
          </a:p>
          <a:p>
            <a:pPr marL="342900" lvl="0" indent="-342900">
              <a:lnSpc>
                <a:spcPct val="100000"/>
              </a:lnSpc>
              <a:buClr>
                <a:srgbClr val="C00000"/>
              </a:buClr>
              <a:buFont typeface="+mj-lt"/>
              <a:buAutoNum type="alphaU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Which products generate the most revenue?</a:t>
            </a:r>
          </a:p>
          <a:p>
            <a:pPr marL="342900" lvl="0" indent="-342900">
              <a:lnSpc>
                <a:spcPct val="100000"/>
              </a:lnSpc>
              <a:buClr>
                <a:srgbClr val="C00000"/>
              </a:buClr>
              <a:buFont typeface="+mj-lt"/>
              <a:buAutoNum type="alphaU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are the peak sales periods?</a:t>
            </a:r>
          </a:p>
          <a:p>
            <a:pPr marL="342900" lvl="0" indent="-342900">
              <a:lnSpc>
                <a:spcPct val="100000"/>
              </a:lnSpc>
              <a:buClr>
                <a:srgbClr val="C00000"/>
              </a:buClr>
              <a:buFont typeface="+mj-lt"/>
              <a:buAutoNum type="alphaU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How do customer preferences vary by size and category?</a:t>
            </a:r>
          </a:p>
          <a:p>
            <a:pPr marL="342900" lvl="0" indent="-342900">
              <a:lnSpc>
                <a:spcPct val="100000"/>
              </a:lnSpc>
              <a:buClr>
                <a:srgbClr val="C00000"/>
              </a:buClr>
              <a:buFont typeface="+mj-lt"/>
              <a:buAutoNum type="alphaU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Which products or categories underperform?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limits the company’s ability to make informed decisions on pricing,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promotions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inventory planning.</a:t>
            </a:r>
          </a:p>
          <a:p>
            <a:pPr marL="0" lv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19617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rPr>
              <a:t>DATASET </a:t>
            </a:r>
            <a:r>
              <a:rPr lang="en-US" b="1" dirty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rPr>
              <a:t>OVERVIEW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2"/>
            <a:ext cx="10914517" cy="490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contains one year of pizza sales transactions, capturing detailed information about each order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Fields: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Order ID: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Unique identifier for each order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Date &amp; Time: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Timestamp of when the order was placed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Pizza Name: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Specific product ordered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Category: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Type of pizza (e.g., Classic, Veggie, Chicken, Supreme)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Size: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Pizza size (S, M, L)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Quantity: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Number of items ordered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Price: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Unit price of each pizza</a:t>
            </a:r>
          </a:p>
          <a:p>
            <a:pPr marL="0" indent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dataset enables analysis of revenue trends, product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performance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customer behavior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143924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rPr>
              <a:t>DATA </a:t>
            </a:r>
            <a:r>
              <a:rPr lang="en-US" b="1" dirty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rPr>
              <a:t>PREPARATION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0"/>
            <a:ext cx="10914517" cy="5154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Before performing the analysis, the dataset was reviewed to ensure its quality and readiness for exploration.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dataset was found to be well-structured with no missing values, duplicates or inconsistencies.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b="1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Preparation Steps</a:t>
            </a:r>
          </a:p>
          <a:p>
            <a:pPr>
              <a:lnSpc>
                <a:spcPct val="100000"/>
              </a:lnSpc>
              <a:buClr>
                <a:srgbClr val="D24726"/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Imported the dataset into Python using </a:t>
            </a:r>
            <a:r>
              <a:rPr lang="en-US" sz="13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Jupyter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Notebook</a:t>
            </a:r>
          </a:p>
          <a:p>
            <a:pPr>
              <a:lnSpc>
                <a:spcPct val="100000"/>
              </a:lnSpc>
              <a:buClr>
                <a:srgbClr val="D24726"/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Inspected the dataset structure and variables</a:t>
            </a:r>
          </a:p>
          <a:p>
            <a:pPr>
              <a:lnSpc>
                <a:spcPct val="100000"/>
              </a:lnSpc>
              <a:buClr>
                <a:srgbClr val="D24726"/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Verified data completeness and consistency</a:t>
            </a:r>
          </a:p>
          <a:p>
            <a:pPr>
              <a:lnSpc>
                <a:spcPct val="100000"/>
              </a:lnSpc>
              <a:buClr>
                <a:srgbClr val="D24726"/>
              </a:buCl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Adjusted data types of columns to appropriate formats for analysis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preparation ensured the dataset was ready for accurate exploratory data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46360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REVENUE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PERFORMANCE ANALYSIS</a:t>
            </a:r>
            <a:endParaRPr lang="en-US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293220"/>
            <a:ext cx="5533727" cy="51075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Revenue: $</a:t>
            </a:r>
            <a:r>
              <a:rPr lang="en-US" sz="1300" b="1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817,860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</a:t>
            </a: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Insights: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remained relatively stable throughout the year, with slight fluctuations across months </a:t>
            </a:r>
            <a:endParaRPr lang="en-US" sz="1300" dirty="0" smtClean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July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recorded the highest monthly revenue</a:t>
            </a:r>
            <a:r>
              <a:rPr lang="en-US" sz="13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, while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October and September showed the lowest performance</a:t>
            </a:r>
            <a:r>
              <a:rPr lang="en-US" sz="13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endParaRPr lang="en-US" sz="1300" b="1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activity peaks towards mid-year, suggesting stronger customer demand during that period </a:t>
            </a:r>
            <a:endParaRPr lang="en-US" sz="1300" dirty="0" smtClean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Fridays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generate the highest revenue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followed closely by Saturdays and Thursdays </a:t>
            </a:r>
            <a:endParaRPr lang="en-US" sz="1300" dirty="0" smtClean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Sundays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produce the lowest revenue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indicating reduced customer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is strongly influenced by weekly customer behavior, with end-of-week periods driving the majority of sales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098" name="Picture 11" descr="DC01C8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54" y="1278089"/>
            <a:ext cx="5407136" cy="252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4" descr="592D451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54" y="3966114"/>
            <a:ext cx="5407136" cy="251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3228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0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PRODUCT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PERFORMANCE INSIGHTS</a:t>
            </a:r>
            <a:endParaRPr lang="en-US" b="1" dirty="0">
              <a:solidFill>
                <a:schemeClr val="tx1"/>
              </a:solidFill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371815"/>
            <a:ext cx="5223760" cy="5028985"/>
          </a:xfrm>
          <a:prstGeom prst="rect">
            <a:avLst/>
          </a:prstGeom>
        </p:spPr>
        <p:txBody>
          <a:bodyPr vert="horz" lIns="91440" tIns="45720" rIns="91440" bIns="45720" numCol="2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Insights: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Classic pizzas generate the highest revenue ($220K),</a:t>
            </a:r>
            <a:r>
              <a:rPr lang="en-US" sz="13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making them the strongest performing category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Supreme and Chicken categories follow closely,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showing balanced demand across premium options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Veggie pizzas contribute the least revenue,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indicating lower customer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preference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Top-performing pizzas are led by Thai Chicken, BBQ Chicken, and California Chicken,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showing strong demand for chicken-based options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best-selling items consistently combine bold flavors with familiar ingredients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Brie </a:t>
            </a:r>
            <a:r>
              <a:rPr lang="en-US" sz="1300" b="1" dirty="0" err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Carre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Green Garden, and Spinach Supreme are the lowest-performing pizzas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These products contribute minimal revenue and may require review or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repositioning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small group of high-performing pizzas drives a significant portion of total revenue, while several products underperform and may not justify their menu presence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075" name="Picture 15" descr="B9B2B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339" y="4031822"/>
            <a:ext cx="3126034" cy="236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8" descr="9CA076A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199" y="1371815"/>
            <a:ext cx="3998562" cy="243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3848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7696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7" descr="E544ECD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601" y="4044824"/>
            <a:ext cx="3078615" cy="236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14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CUSTOMER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PURCHASE BEHAVIOR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371815"/>
            <a:ext cx="5223760" cy="5028985"/>
          </a:xfrm>
          <a:prstGeom prst="rect">
            <a:avLst/>
          </a:prstGeom>
        </p:spPr>
        <p:txBody>
          <a:bodyPr vert="horz" lIns="91440" tIns="45720" rIns="91440" bIns="45720" numCol="2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Order Value: $</a:t>
            </a:r>
            <a:r>
              <a:rPr lang="en-US" sz="1300" b="1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16.50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Fridays record the highest number of orders,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followed by Saturdays and Thursdays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Sundays have the lowest order volume,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indicating weaker customer activity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activity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peaks between 12 PM and 1 PM,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making lunchtime the busiest period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second surge occurs in the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evening (5 PM – 7 PM),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showing strong dinner demand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Orders drop significantly after 9 PM, with minimal activity late at night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order value of $16.50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suggests moderate spending per transaction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indicates potential opportunities to increase revenue through upselling or combo offers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demand is highly time-driven, with peak activity concentrated around lunch and evening hours, especially towards the end of the week.</a:t>
            </a:r>
          </a:p>
          <a:p>
            <a:pPr marL="0" indent="0">
              <a:buNone/>
            </a:pP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3848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7696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6" name="Picture 19" descr="7AE192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32" y="1283196"/>
            <a:ext cx="5439561" cy="236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Picture 20" descr="3A2457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32" y="3828373"/>
            <a:ext cx="5439561" cy="236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7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SIZE-BASED SALES ANALYSIS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371815"/>
            <a:ext cx="5104035" cy="5028985"/>
          </a:xfrm>
          <a:prstGeom prst="rect">
            <a:avLst/>
          </a:prstGeom>
        </p:spPr>
        <p:txBody>
          <a:bodyPr vert="horz" lIns="91440" tIns="45720" rIns="91440" bIns="45720" numCol="2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Large (L) pizzas dominate both in order volume and revenue,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making them the primary driver of sales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Medium (M) and Small (S) sizes follow, with noticeably lower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performance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Large pizzas generate the highest revenue ($375K),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contributing nearly half of total sales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Medium and Small sizes contribute significantly less, showing a clear customer preference for larger portions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XL and XXL sizes have extremely low demand,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with minimal contribution to overall revenue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These sizes may not be popular with customers or may not be priced attractively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 clearly prefer larger pizzas, and pricing supports this behavior, making large sizes the most valuable segment for revenue growth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171" name="Picture 21" descr="258A31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645" y="1440457"/>
            <a:ext cx="3096857" cy="232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2" descr="7F4CF4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878" y="1431014"/>
            <a:ext cx="3096858" cy="230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23" descr="5617868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769" y="3946392"/>
            <a:ext cx="4895679" cy="240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4019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80200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3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CATEGORY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CONTRIBUTION TO REVENUE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371815"/>
            <a:ext cx="5426053" cy="5028985"/>
          </a:xfrm>
          <a:prstGeom prst="rect">
            <a:avLst/>
          </a:prstGeom>
        </p:spPr>
        <p:txBody>
          <a:bodyPr vert="horz" lIns="91440" tIns="45720" rIns="91440" bIns="45720" numCol="2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Classic pizzas generate the highest revenue ($220K), </a:t>
            </a: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making them the most profitable category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Supreme and Chicken categories follow closely, </a:t>
            </a: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contributing strong and consistent revenue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Veggie pizzas generate the lowest revenue, </a:t>
            </a: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indicating weaker overall performance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Classic category also leads in total orders, </a:t>
            </a: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confirming its strong popularity among customers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Other categories (Supreme, Veggie, Chicken) show relatively similar order volumes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comparison shows that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higher popularity generally translates to higher revenue, </a:t>
            </a: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especially for Classic pizzas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However, some categories generate strong revenue despite slightly lower order volume, suggesting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higher pricing or premium </a:t>
            </a: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positioning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Classic pizzas dominate both in popularity and revenue, while other categories present opportunities for pricing, promotion, or repositioning strategies.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80200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84221" y="3860132"/>
            <a:ext cx="12276221" cy="445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198" name="Picture 26" descr="8CC120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87" y="1274155"/>
            <a:ext cx="4755734" cy="256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27" descr="7A0401C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87" y="3908248"/>
            <a:ext cx="4755734" cy="256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54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48056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KEY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BUSINESS INSIGHTS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536192"/>
            <a:ext cx="11136584" cy="4864608"/>
          </a:xfrm>
          <a:prstGeom prst="rect">
            <a:avLst/>
          </a:prstGeom>
        </p:spPr>
        <p:txBody>
          <a:bodyPr vert="horz" lIns="91440" tIns="45720" rIns="91440" bIns="45720" numCol="1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business generated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$817,860 in total revenue,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with stable performance across the year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is driven by end-of-week demand,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with Fridays and Saturdays showing the highest activity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behavior peaks during lunch (12–1 PM) and evening hours (5–7 PM)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Large-sized pizzas dominate both demand and revenue,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contributing the largest share of sales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Classic category leads in both popularity and revenue,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making it the core product segment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small group of top-performing pizzas drives a significant portion of total revenue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Several products and sizes (e.g., XXL) show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very low demand and minimal revenue contribution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 is driven by a combination of timing, product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preference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portion size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80200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84221" y="3860132"/>
            <a:ext cx="12276221" cy="445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5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609" y="457200"/>
            <a:ext cx="11136585" cy="6400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+mn-lt"/>
              </a:rPr>
              <a:t>BUSINESS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RECOMMENDATIONS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10" y="1323475"/>
            <a:ext cx="11136584" cy="4415588"/>
          </a:xfrm>
          <a:prstGeom prst="rect">
            <a:avLst/>
          </a:prstGeom>
        </p:spPr>
        <p:txBody>
          <a:bodyPr vert="horz" lIns="91440" tIns="45720" rIns="91440" bIns="45720" numCol="2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 Focus on High-Performing Products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Promote top-selling pizzas (e.g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Thai Chicken, BBQ Chicken)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Feature them in ads,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bundles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homepage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displays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2. Optimize Low-Performing Items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Review or remove underperforming pizzas (e.g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Brie </a:t>
            </a:r>
            <a:r>
              <a:rPr lang="en-US" sz="13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Carre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Reposition with new pricing or marketing if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necessary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3. Leverage Peak Sales Periods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Run promotions on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Fridays and weekends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maximize revenue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Introduce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lunch deals (12–2 PM)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dinner bundles (5–7 PM</a:t>
            </a: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)</a:t>
            </a:r>
          </a:p>
          <a:p>
            <a:pPr marL="0" indent="0">
              <a:buNone/>
            </a:pPr>
            <a:endParaRPr lang="en-US" sz="1300" b="1" dirty="0" smtClean="0">
              <a:solidFill>
                <a:srgbClr val="D24726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300" b="1" dirty="0" smtClean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</a:t>
            </a: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Increase Average Order Value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Introduce combo offers (pizza + drink + side)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Offer upsizing incentives (e.g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“Upgrade to Large for a small extra cost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”)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5. Focus on Large Size Strategy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Promote Large pizzas as the “best value” option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Bundle large sizes for group or family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deals</a:t>
            </a:r>
            <a:endParaRPr lang="en-US" sz="13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6. Reevaluate XL &amp; XXL Sizes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Consider removing or repricing due to low demand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Alternatively, reposition them for special occasions or group orders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80200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-84221" y="3860132"/>
            <a:ext cx="12276221" cy="445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Content Placeholder 17"/>
          <p:cNvSpPr txBox="1">
            <a:spLocks/>
          </p:cNvSpPr>
          <p:nvPr/>
        </p:nvSpPr>
        <p:spPr>
          <a:xfrm>
            <a:off x="541609" y="6121669"/>
            <a:ext cx="11136585" cy="375384"/>
          </a:xfrm>
          <a:prstGeom prst="rect">
            <a:avLst/>
          </a:prstGeom>
        </p:spPr>
        <p:txBody>
          <a:bodyPr vert="horz" lIns="91440" tIns="45720" rIns="91440" bIns="45720" numCol="1" spcCol="9144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Focusing on high-demand products, peak </a:t>
            </a:r>
            <a:r>
              <a:rPr lang="en-US" sz="130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periods </a:t>
            </a:r>
            <a:r>
              <a:rPr lang="en-US" sz="13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 value-driven pricing can significantly improve revenue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351655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973" y="805912"/>
            <a:ext cx="11670224" cy="1069099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000" b="1" cap="all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THANK </a:t>
            </a:r>
            <a:r>
              <a:rPr lang="en-US" sz="3000" b="1" cap="all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63679" y="1875012"/>
            <a:ext cx="10838812" cy="829001"/>
          </a:xfrm>
        </p:spPr>
        <p:txBody>
          <a:bodyPr>
            <a:noAutofit/>
          </a:bodyPr>
          <a:lstStyle/>
          <a:p>
            <a:pPr algn="ctr"/>
            <a:r>
              <a:rPr lang="en-US" sz="20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</a:t>
            </a:r>
            <a:r>
              <a:rPr lang="en-US" sz="2000" b="1" cap="all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you for your time and </a:t>
            </a:r>
            <a:r>
              <a:rPr lang="en-US" sz="20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attention</a:t>
            </a:r>
            <a:endParaRPr lang="en-US" sz="2000" b="1" cap="all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91717" y="3122023"/>
            <a:ext cx="9582736" cy="314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Presented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by</a:t>
            </a:r>
            <a:endParaRPr lang="en-US" sz="1800" b="1" cap="all" dirty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 err="1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Ademola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 Abraham</a:t>
            </a: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/>
            </a:r>
            <a:b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</a:b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Data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Analyst</a:t>
            </a:r>
          </a:p>
          <a:p>
            <a:pPr algn="ctr">
              <a:lnSpc>
                <a:spcPct val="100000"/>
              </a:lnSpc>
            </a:pPr>
            <a:endParaRPr lang="en-US" sz="1800" b="1" cap="all" dirty="0" smtClean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Open to questions and further discussion</a:t>
            </a:r>
          </a:p>
        </p:txBody>
      </p:sp>
    </p:spTree>
    <p:extLst>
      <p:ext uri="{BB962C8B-B14F-4D97-AF65-F5344CB8AC3E}">
        <p14:creationId xmlns:p14="http://schemas.microsoft.com/office/powerpoint/2010/main" val="29834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infopath/2007/PartnerControls"/>
    <ds:schemaRef ds:uri="http://www.w3.org/XML/1998/namespace"/>
    <ds:schemaRef ds:uri="71af3243-3dd4-4a8d-8c0d-dd76da1f02a5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1229</Words>
  <Application>Microsoft Office PowerPoint</Application>
  <PresentationFormat>Widescreen</PresentationFormat>
  <Paragraphs>130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Segoe UI</vt:lpstr>
      <vt:lpstr>Segoe UI Black</vt:lpstr>
      <vt:lpstr>Segoe UI Historic</vt:lpstr>
      <vt:lpstr>Segoe UI Light</vt:lpstr>
      <vt:lpstr>Segoe UI Semibold</vt:lpstr>
      <vt:lpstr>Wingdings</vt:lpstr>
      <vt:lpstr>WelcomeDoc</vt:lpstr>
      <vt:lpstr>Pizza Sales Performance Report (1-Year Analysis)</vt:lpstr>
      <vt:lpstr>BUSINESS PROBLEM</vt:lpstr>
      <vt:lpstr>DATASET OVERVIEW</vt:lpstr>
      <vt:lpstr>DATA PREPARATION</vt:lpstr>
      <vt:lpstr>REVENUE PERFORMANCE ANALYSIS</vt:lpstr>
      <vt:lpstr>PRODUCT PERFORMANCE INSIGHTS</vt:lpstr>
      <vt:lpstr>CUSTOMER PURCHASE BEHAVIOR</vt:lpstr>
      <vt:lpstr>SIZE-BASED SALES ANALYSIS</vt:lpstr>
      <vt:lpstr>CATEGORY CONTRIBUTION TO REVENUE</vt:lpstr>
      <vt:lpstr>KEY BUSINESS INSIGHTS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2026-04-07T15:02:59Z</dcterms:created>
  <dcterms:modified xsi:type="dcterms:W3CDTF">2026-04-11T21:41:44Z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