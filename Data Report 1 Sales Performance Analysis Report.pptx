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1434"/>
    <a:srgbClr val="969FA7"/>
    <a:srgbClr val="9031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Sales Performance Analysis </a:t>
            </a:r>
            <a:r>
              <a:rPr lang="en-US" dirty="0" smtClean="0">
                <a:latin typeface="Arial Black" panose="020B0A04020102020204" pitchFamily="34" charset="0"/>
              </a:rPr>
              <a:t>Report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/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Supermarket Transaction Data (2024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3292275"/>
            <a:ext cx="10993546" cy="2873391"/>
          </a:xfrm>
        </p:spPr>
        <p:txBody>
          <a:bodyPr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 by</a:t>
            </a:r>
            <a:b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Ademola</a:t>
            </a:r>
            <a:r>
              <a:rPr lang="en-US" sz="2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Abraham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MARCH 2026</a:t>
            </a:r>
          </a:p>
          <a:p>
            <a:pPr algn="ctr"/>
            <a:endParaRPr 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Intelligence &amp; Data Analytics </a:t>
            </a:r>
            <a:r>
              <a:rPr lang="en-US" sz="2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</a:t>
            </a:r>
            <a:endParaRPr 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743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52415" y="634290"/>
            <a:ext cx="11287170" cy="574766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44050" y="458766"/>
            <a:ext cx="3711103" cy="874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045168" y="458766"/>
            <a:ext cx="3694176" cy="874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248167" y="463713"/>
            <a:ext cx="3694176" cy="874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452415" y="1579154"/>
            <a:ext cx="11286928" cy="4715692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supermarket management team provided one year of transaction data to better understand business performance and customer purchasing behavior across its branches.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goal of this analysis is to uncover insights that can help management make informed decisions to improve sales performance, product strategy and customer experience.</a:t>
            </a:r>
          </a:p>
          <a:p>
            <a:pPr marL="0" indent="0">
              <a:buFont typeface="Wingdings 2" panose="05020102010507070707" pitchFamily="18" charset="2"/>
              <a:buNone/>
            </a:pPr>
            <a:endParaRPr lang="en-US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sz="19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Questions</a:t>
            </a:r>
            <a:endParaRPr lang="en-US" sz="19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indent="-400050">
              <a:buFont typeface="+mj-lt"/>
              <a:buAutoNum type="alphaUcPeriod"/>
            </a:pP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did sales perform across the different branches?</a:t>
            </a:r>
          </a:p>
          <a:p>
            <a:pPr marL="400050" indent="-400050">
              <a:buFont typeface="+mj-lt"/>
              <a:buAutoNum type="alphaUcPeriod"/>
            </a:pP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product lines generated the highest revenue?</a:t>
            </a:r>
          </a:p>
          <a:p>
            <a:pPr marL="400050" indent="-400050">
              <a:buFont typeface="+mj-lt"/>
              <a:buAutoNum type="alphaUcPeriod"/>
            </a:pP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are the purchasing patterns of different customer groups?</a:t>
            </a:r>
          </a:p>
          <a:p>
            <a:pPr marL="400050" indent="-400050">
              <a:buFont typeface="+mj-lt"/>
              <a:buAutoNum type="alphaUcPeriod"/>
            </a:pP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payment methods are most commonly used?</a:t>
            </a:r>
          </a:p>
          <a:p>
            <a:pPr marL="400050" indent="-400050">
              <a:buFont typeface="+mj-lt"/>
              <a:buAutoNum type="alphaUcPeriod"/>
            </a:pP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does customer rating reveal about service satisfaction?</a:t>
            </a:r>
          </a:p>
          <a:p>
            <a:pPr marL="0" indent="0">
              <a:buFont typeface="Wingdings 2" panose="05020102010507070707" pitchFamily="18" charset="2"/>
              <a:buNone/>
            </a:pPr>
            <a:endParaRPr lang="en-US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sz="19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Purpose of the Analysis</a:t>
            </a:r>
            <a:endParaRPr lang="en-US" sz="19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transform transaction data into actionable insights that support better business decisions.</a:t>
            </a:r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452414" y="740229"/>
            <a:ext cx="11286929" cy="391342"/>
          </a:xfrm>
          <a:prstGeom prst="rect">
            <a:avLst/>
          </a:prstGeom>
          <a:solidFill>
            <a:srgbClr val="4D1434"/>
          </a:solidFill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000" dirty="0" smtClean="0">
                <a:latin typeface="Arial Black" panose="020B0A04020102020204" pitchFamily="34" charset="0"/>
              </a:rPr>
              <a:t>Business Problem</a:t>
            </a:r>
            <a:endParaRPr lang="en-US" sz="2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347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52415" y="634290"/>
            <a:ext cx="11287170" cy="574766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44050" y="458766"/>
            <a:ext cx="3711103" cy="874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045168" y="458766"/>
            <a:ext cx="3694176" cy="874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248167" y="463713"/>
            <a:ext cx="3694176" cy="874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452415" y="1341007"/>
            <a:ext cx="11286928" cy="5190421"/>
          </a:xfrm>
          <a:prstGeom prst="rect">
            <a:avLst/>
          </a:prstGeom>
        </p:spPr>
        <p:txBody>
          <a:bodyPr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 Description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dataset contains one year of supermarket transaction records covering sales activities across multiple 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branches. Each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row represents a </a:t>
            </a: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 customer transaction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recorded during 2024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US" sz="17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Period: January 2024 – December 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Transactions: 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5,053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Variables: 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Branch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Locations: Brooklyn, Queens, 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Manhattan</a:t>
            </a:r>
            <a:endParaRPr lang="en-US" sz="17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452414" y="719015"/>
            <a:ext cx="11286929" cy="412555"/>
          </a:xfrm>
          <a:prstGeom prst="rect">
            <a:avLst/>
          </a:prstGeom>
          <a:solidFill>
            <a:srgbClr val="4D1434"/>
          </a:solidFill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000" dirty="0">
                <a:latin typeface="Arial Black" panose="020B0A04020102020204" pitchFamily="34" charset="0"/>
              </a:rPr>
              <a:t>Dataset Overview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6618514" y="2786743"/>
            <a:ext cx="5120829" cy="374468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Variables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 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---- Transaction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Branch 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---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 location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Type 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---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or Normal customer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Gender 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---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gender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 Line 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---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 category purchased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Unit Price 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---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Price of the product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Quantity 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---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 of items purchased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Payment 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---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Payment method used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Rating 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---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satisfaction rating</a:t>
            </a:r>
          </a:p>
        </p:txBody>
      </p:sp>
    </p:spTree>
    <p:extLst>
      <p:ext uri="{BB962C8B-B14F-4D97-AF65-F5344CB8AC3E}">
        <p14:creationId xmlns:p14="http://schemas.microsoft.com/office/powerpoint/2010/main" val="3701481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52415" y="634290"/>
            <a:ext cx="11287170" cy="574766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44050" y="458766"/>
            <a:ext cx="3711103" cy="874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045168" y="458766"/>
            <a:ext cx="3694176" cy="874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248167" y="463713"/>
            <a:ext cx="3694176" cy="874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452415" y="1579154"/>
            <a:ext cx="11286928" cy="4715692"/>
          </a:xfrm>
          <a:prstGeom prst="rect">
            <a:avLst/>
          </a:prstGeom>
        </p:spPr>
        <p:txBody>
          <a:bodyPr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Before performing the analysis, the dataset was reviewed to ensure its quality and readiness for exploration.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dataset was found to be well-structured with no missing values, 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duplicates or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inconsistencies.</a:t>
            </a:r>
          </a:p>
          <a:p>
            <a:pPr marL="0" indent="0">
              <a:buNone/>
            </a:pPr>
            <a:endParaRPr lang="en-US" sz="17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Preparation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Steps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Imported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dataset into Python using </a:t>
            </a:r>
            <a:r>
              <a:rPr lang="en-US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Jupyter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Notebook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Inspected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dataset structure and 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Verified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completeness and 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consistency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Adjusted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types of columns to appropriate formats for analysis</a:t>
            </a:r>
          </a:p>
          <a:p>
            <a:pPr marL="0" indent="0">
              <a:buNone/>
            </a:pPr>
            <a:endParaRPr lang="en-US" sz="17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preparation ensured the dataset was ready for accurate exploratory data analysis and visualization.</a:t>
            </a:r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452414" y="740229"/>
            <a:ext cx="11286929" cy="391342"/>
          </a:xfrm>
          <a:prstGeom prst="rect">
            <a:avLst/>
          </a:prstGeom>
          <a:solidFill>
            <a:srgbClr val="4D1434"/>
          </a:solidFill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000" dirty="0">
                <a:latin typeface="Arial Black" panose="020B0A04020102020204" pitchFamily="34" charset="0"/>
              </a:rPr>
              <a:t>Data Preparation</a:t>
            </a:r>
          </a:p>
        </p:txBody>
      </p:sp>
    </p:spTree>
    <p:extLst>
      <p:ext uri="{BB962C8B-B14F-4D97-AF65-F5344CB8AC3E}">
        <p14:creationId xmlns:p14="http://schemas.microsoft.com/office/powerpoint/2010/main" val="1041988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52415" y="634290"/>
            <a:ext cx="11287170" cy="574766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44050" y="458766"/>
            <a:ext cx="3711103" cy="874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045168" y="458766"/>
            <a:ext cx="3694176" cy="874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248167" y="463713"/>
            <a:ext cx="3694176" cy="874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452415" y="1444683"/>
            <a:ext cx="4657467" cy="495611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Metric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Revenue Generated in 2024</a:t>
            </a:r>
            <a:b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$942,544.85</a:t>
            </a:r>
            <a:endParaRPr lang="en-US" sz="17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Insights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fluctuated throughout the year, showing clear seasonal 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patterns.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April </a:t>
            </a: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generated the highest revenue ($</a:t>
            </a:r>
            <a:r>
              <a:rPr lang="en-US" sz="17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132,083.88)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indicating strong year-end 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August </a:t>
            </a: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recorded the lowest revenue ($19,440.15)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suggesting a significant mid-year 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slowdown.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began recovering from September and remained strong toward the end of the year.</a:t>
            </a:r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452414" y="740229"/>
            <a:ext cx="11286929" cy="391342"/>
          </a:xfrm>
          <a:prstGeom prst="rect">
            <a:avLst/>
          </a:prstGeom>
          <a:solidFill>
            <a:srgbClr val="4D1434"/>
          </a:solidFill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000" dirty="0" smtClean="0">
                <a:latin typeface="Arial Black" panose="020B0A04020102020204" pitchFamily="34" charset="0"/>
              </a:rPr>
              <a:t>A. Overall Sales Performance (2024)</a:t>
            </a:r>
            <a:endParaRPr lang="en-US" sz="2000" dirty="0">
              <a:latin typeface="Arial Black" panose="020B0A04020102020204" pitchFamily="34" charset="0"/>
            </a:endParaRPr>
          </a:p>
        </p:txBody>
      </p:sp>
      <p:pic>
        <p:nvPicPr>
          <p:cNvPr id="11" name="Picture 10" descr="C:\Users\DELL\AppData\Local\Microsoft\Windows\INetCache\Content.MSO\74D9A627.tmp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9881" y="1444683"/>
            <a:ext cx="6494930" cy="2589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 descr="C:\Users\DELL\AppData\Local\Microsoft\Windows\INetCache\Content.MSO\350619CD.tmp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9881" y="4034119"/>
            <a:ext cx="6629461" cy="2602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46117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52415" y="634290"/>
            <a:ext cx="11287170" cy="574766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44050" y="458766"/>
            <a:ext cx="3711103" cy="874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045168" y="458766"/>
            <a:ext cx="3694176" cy="874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248167" y="463713"/>
            <a:ext cx="3694176" cy="874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452415" y="1403055"/>
            <a:ext cx="4657467" cy="4997745"/>
          </a:xfrm>
          <a:prstGeom prst="rect">
            <a:avLst/>
          </a:prstGeom>
        </p:spPr>
        <p:txBody>
          <a:bodyPr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Insights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 across branches is </a:t>
            </a: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relatively </a:t>
            </a:r>
            <a:r>
              <a:rPr lang="en-US" sz="17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balanced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Brooklyn </a:t>
            </a: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recorded the highest revenue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though only slightly above the other 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branches.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Manhattan </a:t>
            </a: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Queens show similar performance levels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indicating consistent sales 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quantity of products sold is also </a:t>
            </a: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closely aligned across branches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reinforcing the balanced performance.</a:t>
            </a:r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452414" y="740229"/>
            <a:ext cx="11286929" cy="391342"/>
          </a:xfrm>
          <a:prstGeom prst="rect">
            <a:avLst/>
          </a:prstGeom>
          <a:solidFill>
            <a:srgbClr val="4D1434"/>
          </a:solidFill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000" dirty="0">
                <a:latin typeface="Arial Black" panose="020B0A04020102020204" pitchFamily="34" charset="0"/>
              </a:rPr>
              <a:t>B</a:t>
            </a:r>
            <a:r>
              <a:rPr lang="en-US" sz="2000" dirty="0" smtClean="0">
                <a:latin typeface="Arial Black" panose="020B0A04020102020204" pitchFamily="34" charset="0"/>
              </a:rPr>
              <a:t>. </a:t>
            </a:r>
            <a:r>
              <a:rPr lang="en-US" sz="2000" dirty="0">
                <a:latin typeface="Arial Black" panose="020B0A04020102020204" pitchFamily="34" charset="0"/>
              </a:rPr>
              <a:t>Branch </a:t>
            </a:r>
            <a:r>
              <a:rPr lang="en-US" sz="2000" dirty="0" smtClean="0">
                <a:latin typeface="Arial Black" panose="020B0A04020102020204" pitchFamily="34" charset="0"/>
              </a:rPr>
              <a:t>SALES Performance</a:t>
            </a:r>
            <a:endParaRPr lang="en-US" sz="2000" dirty="0">
              <a:latin typeface="Arial Black" panose="020B0A04020102020204" pitchFamily="34" charset="0"/>
            </a:endParaRPr>
          </a:p>
        </p:txBody>
      </p:sp>
      <p:pic>
        <p:nvPicPr>
          <p:cNvPr id="15" name="Picture 14" descr="C:\Users\DELL\AppData\Local\Microsoft\Windows\INetCache\Content.MSO\6469DA32.tmp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3654" y="1237510"/>
            <a:ext cx="5203190" cy="2538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5" descr="C:\Users\DELL\AppData\Local\Microsoft\Windows\INetCache\Content.MSO\8D546910.tmp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3654" y="3901927"/>
            <a:ext cx="5388610" cy="26425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8645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52415" y="634290"/>
            <a:ext cx="11287170" cy="574766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44050" y="458766"/>
            <a:ext cx="3711103" cy="874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045168" y="458766"/>
            <a:ext cx="3694176" cy="874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248167" y="463713"/>
            <a:ext cx="3694176" cy="874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452415" y="1403055"/>
            <a:ext cx="4657467" cy="4997745"/>
          </a:xfrm>
          <a:prstGeom prst="rect">
            <a:avLst/>
          </a:prstGeom>
        </p:spPr>
        <p:txBody>
          <a:bodyPr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Insights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 </a:t>
            </a: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 Lifestyle generated the highest revenue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making it the top-performing 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category.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Fashion </a:t>
            </a: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 Accessories produced the lowest revenue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significantly below other product 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Food </a:t>
            </a: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 Beverages recorded the highest quantity sold (7,309 units)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showing strong customer 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demand.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Despite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sales volume, Food &amp; Beverages generates moderate revenue, suggesting </a:t>
            </a: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lower unit prices compared to other categories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452414" y="740229"/>
            <a:ext cx="11286929" cy="391342"/>
          </a:xfrm>
          <a:prstGeom prst="rect">
            <a:avLst/>
          </a:prstGeom>
          <a:solidFill>
            <a:srgbClr val="4D1434"/>
          </a:solidFill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000" dirty="0" smtClean="0">
                <a:latin typeface="Arial Black" panose="020B0A04020102020204" pitchFamily="34" charset="0"/>
              </a:rPr>
              <a:t>c. </a:t>
            </a:r>
            <a:r>
              <a:rPr lang="en-US" sz="2000" dirty="0">
                <a:latin typeface="Arial Black" panose="020B0A04020102020204" pitchFamily="34" charset="0"/>
              </a:rPr>
              <a:t>Product Line Performance</a:t>
            </a:r>
          </a:p>
        </p:txBody>
      </p:sp>
      <p:pic>
        <p:nvPicPr>
          <p:cNvPr id="11" name="Picture 10" descr="C:\Users\DELL\AppData\Local\Microsoft\Windows\INetCache\Content.MSO\E14819E.tmp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5419" y="1314995"/>
            <a:ext cx="5943600" cy="2629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 descr="C:\Users\DELL\AppData\Local\Microsoft\Windows\INetCache\Content.MSO\36C7BF5C.tmp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5419" y="4012626"/>
            <a:ext cx="5943600" cy="26334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3471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52415" y="634290"/>
            <a:ext cx="11287170" cy="574766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44050" y="458766"/>
            <a:ext cx="3711103" cy="874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045168" y="458766"/>
            <a:ext cx="3694176" cy="874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248167" y="463713"/>
            <a:ext cx="3694176" cy="874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452415" y="1403055"/>
            <a:ext cx="4657467" cy="4997745"/>
          </a:xfrm>
          <a:prstGeom prst="rect">
            <a:avLst/>
          </a:prstGeom>
        </p:spPr>
        <p:txBody>
          <a:bodyPr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Insights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 </a:t>
            </a: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customers generated higher total revenue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during the 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year.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However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members tend to spend more per transaction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compared to normal 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Spending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 shows members consistently spending higher amounts across 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percentiles.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suggests that while normal customers visit more frequently, members generally make </a:t>
            </a: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larger purchases per visit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452414" y="740229"/>
            <a:ext cx="11286929" cy="391342"/>
          </a:xfrm>
          <a:prstGeom prst="rect">
            <a:avLst/>
          </a:prstGeom>
          <a:solidFill>
            <a:srgbClr val="4D1434"/>
          </a:solidFill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000" dirty="0" smtClean="0">
                <a:latin typeface="Arial Black" panose="020B0A04020102020204" pitchFamily="34" charset="0"/>
              </a:rPr>
              <a:t>d. </a:t>
            </a:r>
            <a:r>
              <a:rPr lang="en-US" sz="2000" dirty="0">
                <a:latin typeface="Arial Black" panose="020B0A04020102020204" pitchFamily="34" charset="0"/>
              </a:rPr>
              <a:t>Customer Segment Analysis</a:t>
            </a:r>
          </a:p>
        </p:txBody>
      </p:sp>
      <p:pic>
        <p:nvPicPr>
          <p:cNvPr id="15" name="Picture 14" descr="C:\Users\DELL\AppData\Local\Microsoft\Windows\INetCache\Content.MSO\12DBC9CA.tmp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5419" y="1403055"/>
            <a:ext cx="5039995" cy="2874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5" descr="C:\Users\DELL\AppData\Local\Microsoft\Windows\INetCache\Content.MSO\B9E63468.tmp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5419" y="4277065"/>
            <a:ext cx="5943600" cy="21704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07213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52415" y="634290"/>
            <a:ext cx="11287170" cy="574766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44050" y="458766"/>
            <a:ext cx="3711103" cy="874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045168" y="458766"/>
            <a:ext cx="3694176" cy="874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248167" y="463713"/>
            <a:ext cx="3694176" cy="874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452415" y="1435863"/>
            <a:ext cx="4657467" cy="5155326"/>
          </a:xfrm>
          <a:prstGeom prst="rect">
            <a:avLst/>
          </a:prstGeom>
        </p:spPr>
        <p:txBody>
          <a:bodyPr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Insights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E-wallet </a:t>
            </a: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the most frequently used payment method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indicating strong adoption of digital 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payments.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Cash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credit card usage are </a:t>
            </a: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very close in frequency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showing that customers still rely on traditional payment 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 across payment types is </a:t>
            </a: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fairly balanced overall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Branch-Level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Observation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Payment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preferences across Brooklyn, 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Manhattan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Queens show </a:t>
            </a: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similar </a:t>
            </a:r>
            <a:r>
              <a:rPr lang="en-US" sz="17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patterns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branch demonstrates a </a:t>
            </a: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strong preference for a particular payment method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452414" y="740229"/>
            <a:ext cx="11286929" cy="391342"/>
          </a:xfrm>
          <a:prstGeom prst="rect">
            <a:avLst/>
          </a:prstGeom>
          <a:solidFill>
            <a:srgbClr val="4D1434"/>
          </a:solidFill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000" dirty="0">
                <a:latin typeface="Arial Black" panose="020B0A04020102020204" pitchFamily="34" charset="0"/>
              </a:rPr>
              <a:t>E</a:t>
            </a:r>
            <a:r>
              <a:rPr lang="en-US" sz="2000" dirty="0" smtClean="0">
                <a:latin typeface="Arial Black" panose="020B0A04020102020204" pitchFamily="34" charset="0"/>
              </a:rPr>
              <a:t>. </a:t>
            </a:r>
            <a:r>
              <a:rPr lang="en-US" sz="2000" dirty="0">
                <a:latin typeface="Arial Black" panose="020B0A04020102020204" pitchFamily="34" charset="0"/>
              </a:rPr>
              <a:t>Payment Method Analysis</a:t>
            </a:r>
          </a:p>
        </p:txBody>
      </p:sp>
      <p:pic>
        <p:nvPicPr>
          <p:cNvPr id="11" name="Picture 10" descr="C:\Users\DELL\AppData\Local\Microsoft\Windows\INetCache\Content.MSO\42A75EB6.tmp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9623" y="4408562"/>
            <a:ext cx="3735977" cy="2182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 descr="C:\Users\DELL\AppData\Local\Microsoft\Windows\INetCache\Content.MSO\38705434.tmp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9861" y="1292169"/>
            <a:ext cx="5501768" cy="30828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973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52415" y="634290"/>
            <a:ext cx="11287170" cy="574766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44050" y="458766"/>
            <a:ext cx="3711103" cy="874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045168" y="458766"/>
            <a:ext cx="3694176" cy="874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248167" y="463713"/>
            <a:ext cx="3694176" cy="874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478540" y="1403055"/>
            <a:ext cx="4657467" cy="5155326"/>
          </a:xfrm>
          <a:prstGeom prst="rect">
            <a:avLst/>
          </a:prstGeom>
        </p:spPr>
        <p:txBody>
          <a:bodyPr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Insights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ratings generally fall between </a:t>
            </a: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and 8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indicating </a:t>
            </a: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moderate satisfaction </a:t>
            </a:r>
            <a:r>
              <a:rPr lang="en-US" sz="17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levels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branches show </a:t>
            </a: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very similar rating distributions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suggesting consistent service quality across 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locations.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branch that significantly outperforms or underperforms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customer satisfaction.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Additional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Observation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ratings cluster between </a:t>
            </a: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 and 9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showing that many customers have </a:t>
            </a: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positive experiences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although there is still room for improvement.</a:t>
            </a:r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452414" y="740229"/>
            <a:ext cx="11286929" cy="391342"/>
          </a:xfrm>
          <a:prstGeom prst="rect">
            <a:avLst/>
          </a:prstGeom>
          <a:solidFill>
            <a:srgbClr val="4D1434"/>
          </a:solidFill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000" dirty="0" smtClean="0">
                <a:latin typeface="Arial Black" panose="020B0A04020102020204" pitchFamily="34" charset="0"/>
              </a:rPr>
              <a:t>f. </a:t>
            </a:r>
            <a:r>
              <a:rPr lang="en-US" sz="2000" dirty="0">
                <a:latin typeface="Arial Black" panose="020B0A04020102020204" pitchFamily="34" charset="0"/>
              </a:rPr>
              <a:t>Customer Satisfaction Analysis</a:t>
            </a:r>
          </a:p>
        </p:txBody>
      </p:sp>
      <p:pic>
        <p:nvPicPr>
          <p:cNvPr id="15" name="Picture 14" descr="C:\Users\DELL\AppData\Local\Microsoft\Windows\INetCache\Content.MSO\B7E3AC62.tmp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7657" y="1403055"/>
            <a:ext cx="5564777" cy="2577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5" descr="C:\Users\DELL\AppData\Local\Microsoft\Windows\INetCache\Content.MSO\BAC96AC0.tmp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7657" y="3979773"/>
            <a:ext cx="5568696" cy="25786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0090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52415" y="634290"/>
            <a:ext cx="11287170" cy="574766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44050" y="458766"/>
            <a:ext cx="3711103" cy="874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045168" y="458766"/>
            <a:ext cx="3694176" cy="874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248167" y="463713"/>
            <a:ext cx="3694176" cy="874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452413" y="1350803"/>
            <a:ext cx="11286930" cy="5155326"/>
          </a:xfrm>
          <a:prstGeom prst="rect">
            <a:avLst/>
          </a:prstGeom>
        </p:spPr>
        <p:txBody>
          <a:bodyPr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 Performance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supermarket generated </a:t>
            </a: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$942,544.85 in total revenue during </a:t>
            </a:r>
            <a:r>
              <a:rPr lang="en-US" sz="17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were </a:t>
            </a: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strongest toward the end of the year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with </a:t>
            </a: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December recording the highest </a:t>
            </a:r>
            <a:r>
              <a:rPr lang="en-US" sz="17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7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Mid-year </a:t>
            </a: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months showed a noticeable sales decline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particularly in July and August.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Branch Performance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 across </a:t>
            </a: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Brooklyn, </a:t>
            </a:r>
            <a:r>
              <a:rPr lang="en-US" sz="17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Queens </a:t>
            </a: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Manhattan is relatively </a:t>
            </a:r>
            <a:r>
              <a:rPr lang="en-US" sz="17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balanced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branch shows significant underperformance, indicating </a:t>
            </a: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consistent operations across locations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 Performance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7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 </a:t>
            </a: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 Lifestyle generated the highest revenue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making it the top-performing 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category.</a:t>
            </a:r>
          </a:p>
          <a:p>
            <a:r>
              <a:rPr lang="en-US" sz="17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Food </a:t>
            </a: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 Beverages recorded the highest number of units sold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suggesting strong demand but lower 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pricing.</a:t>
            </a:r>
          </a:p>
          <a:p>
            <a:r>
              <a:rPr lang="en-US" sz="17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Fashion </a:t>
            </a: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 Accessories generated the lowest revenue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indicating weaker product performance.</a:t>
            </a:r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452414" y="740229"/>
            <a:ext cx="11286929" cy="391342"/>
          </a:xfrm>
          <a:prstGeom prst="rect">
            <a:avLst/>
          </a:prstGeom>
          <a:solidFill>
            <a:srgbClr val="4D1434"/>
          </a:solidFill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000" dirty="0">
                <a:latin typeface="Arial Black" panose="020B0A04020102020204" pitchFamily="34" charset="0"/>
              </a:rPr>
              <a:t>Key Insights from the Analysis</a:t>
            </a:r>
          </a:p>
        </p:txBody>
      </p:sp>
    </p:spTree>
    <p:extLst>
      <p:ext uri="{BB962C8B-B14F-4D97-AF65-F5344CB8AC3E}">
        <p14:creationId xmlns:p14="http://schemas.microsoft.com/office/powerpoint/2010/main" val="3560454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52415" y="634290"/>
            <a:ext cx="11287170" cy="574766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44050" y="458766"/>
            <a:ext cx="3711103" cy="874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045168" y="458766"/>
            <a:ext cx="3694176" cy="874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248167" y="463713"/>
            <a:ext cx="3694176" cy="874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452413" y="1350803"/>
            <a:ext cx="11286930" cy="5155326"/>
          </a:xfrm>
          <a:prstGeom prst="rect">
            <a:avLst/>
          </a:prstGeom>
        </p:spPr>
        <p:txBody>
          <a:bodyPr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Behavior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7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 </a:t>
            </a: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customers generated more total revenue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likely due to a higher number of 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transactions.</a:t>
            </a:r>
          </a:p>
          <a:p>
            <a:r>
              <a:rPr lang="en-US" sz="17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Members </a:t>
            </a: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spend more per purchase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indicating stronger spending behavior per visit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Payment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Trends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7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E-wallet </a:t>
            </a: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the most frequently used payment method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showing increasing adoption of digital payments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Satisfaction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Average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rating is </a:t>
            </a: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6.9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indicating </a:t>
            </a: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moderate satisfaction </a:t>
            </a:r>
            <a:r>
              <a:rPr lang="en-US" sz="17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levels</a:t>
            </a:r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7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satisfaction levels are </a:t>
            </a:r>
            <a:r>
              <a:rPr lang="en-US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consistent across all branches</a:t>
            </a:r>
            <a:r>
              <a:rPr lang="en-US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452414" y="740229"/>
            <a:ext cx="11286929" cy="391342"/>
          </a:xfrm>
          <a:prstGeom prst="rect">
            <a:avLst/>
          </a:prstGeom>
          <a:solidFill>
            <a:srgbClr val="4D1434"/>
          </a:solidFill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000" dirty="0">
                <a:latin typeface="Arial Black" panose="020B0A04020102020204" pitchFamily="34" charset="0"/>
              </a:rPr>
              <a:t>Key Insights from the Analysis</a:t>
            </a:r>
          </a:p>
        </p:txBody>
      </p:sp>
    </p:spTree>
    <p:extLst>
      <p:ext uri="{BB962C8B-B14F-4D97-AF65-F5344CB8AC3E}">
        <p14:creationId xmlns:p14="http://schemas.microsoft.com/office/powerpoint/2010/main" val="1107602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52415" y="634290"/>
            <a:ext cx="11287170" cy="574766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44050" y="458766"/>
            <a:ext cx="3711103" cy="874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045168" y="458766"/>
            <a:ext cx="3694176" cy="874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248167" y="463713"/>
            <a:ext cx="3694176" cy="874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444050" y="1276699"/>
            <a:ext cx="11295293" cy="5463736"/>
          </a:xfrm>
          <a:prstGeom prst="rect">
            <a:avLst/>
          </a:prstGeom>
        </p:spPr>
        <p:txBody>
          <a:bodyPr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Strengthen High-Performing Product Lines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Focus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inventory and marketing efforts on </a:t>
            </a: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 &amp; Lifestyle, Health &amp; Beauty, and Sports &amp; Travel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as these categories generate strong revenue.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Improve Underperforming Categories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promotional campaigns or product improvements for </a:t>
            </a: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Fashion &amp; Accessories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increase sales performance.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Leverage Membership Programs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Since members tend to </a:t>
            </a: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spend more per transaction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the company should promote membership programs to encourage higher spending.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Support Digital Payment Adoption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Given the popularity of </a:t>
            </a: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E-wallet payments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the business can enhance digital payment options and offer promotions for digital transactions</a:t>
            </a:r>
            <a:r>
              <a:rPr lang="en-US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Address Mid-Year Sales Slowdown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Introduce seasonal promotions or marketing campaigns during </a:t>
            </a: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mid-year months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stabilize sales performance</a:t>
            </a:r>
            <a:r>
              <a:rPr lang="en-US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Improve Customer Experience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Although satisfaction levels are consistent across branches, efforts should be made to </a:t>
            </a: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increase customer ratings above current averages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through improved service and customer engagement</a:t>
            </a:r>
            <a:r>
              <a:rPr lang="en-US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452414" y="740229"/>
            <a:ext cx="11286929" cy="391342"/>
          </a:xfrm>
          <a:prstGeom prst="rect">
            <a:avLst/>
          </a:prstGeom>
          <a:solidFill>
            <a:srgbClr val="4D1434"/>
          </a:solidFill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000" dirty="0">
                <a:latin typeface="Arial Black" panose="020B0A04020102020204" pitchFamily="34" charset="0"/>
              </a:rPr>
              <a:t>Business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174594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smtClean="0">
                <a:latin typeface="Arial Black" panose="020B0A04020102020204" pitchFamily="34" charset="0"/>
              </a:rPr>
              <a:t>THANK YOU</a:t>
            </a:r>
            <a:br>
              <a:rPr lang="en-US" dirty="0" smtClean="0">
                <a:latin typeface="Arial Black" panose="020B0A04020102020204" pitchFamily="34" charset="0"/>
              </a:rPr>
            </a:b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3292275"/>
            <a:ext cx="10993546" cy="2873391"/>
          </a:xfrm>
        </p:spPr>
        <p:txBody>
          <a:bodyPr>
            <a:noAutofit/>
          </a:bodyPr>
          <a:lstStyle/>
          <a:p>
            <a:pPr algn="ctr"/>
            <a:endPara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5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 &amp; DISCUSSION</a:t>
            </a:r>
          </a:p>
          <a:p>
            <a:pPr algn="ctr"/>
            <a:endParaRPr 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 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b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Ademola</a:t>
            </a:r>
            <a:r>
              <a:rPr lang="en-US" sz="2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Abraham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859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234</TotalTime>
  <Words>1120</Words>
  <Application>Microsoft Office PowerPoint</Application>
  <PresentationFormat>Widescreen</PresentationFormat>
  <Paragraphs>129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Black</vt:lpstr>
      <vt:lpstr>Gill Sans MT</vt:lpstr>
      <vt:lpstr>Wingdings</vt:lpstr>
      <vt:lpstr>Wingdings 2</vt:lpstr>
      <vt:lpstr>Dividend</vt:lpstr>
      <vt:lpstr>Sales Performance Analysis Report  Supermarket Transaction Data (2024)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Performance Analysis Report  Supermarket Transaction Data (2024)</dc:title>
  <dc:creator>DELL</dc:creator>
  <cp:lastModifiedBy>DELL</cp:lastModifiedBy>
  <cp:revision>24</cp:revision>
  <dcterms:created xsi:type="dcterms:W3CDTF">2026-03-15T19:53:54Z</dcterms:created>
  <dcterms:modified xsi:type="dcterms:W3CDTF">2026-03-16T13:30:04Z</dcterms:modified>
</cp:coreProperties>
</file>